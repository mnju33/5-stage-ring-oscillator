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autoCompressPictures="0">
  <p:sldMasterIdLst>
    <p:sldMasterId id="2147483648" r:id="rId1"/>
  </p:sldMasterIdLst>
  <p:notesMasterIdLst>
    <p:notesMasterId r:id="rId28"/>
  </p:notesMasterIdLst>
  <p:sldIdLst>
    <p:sldId id="746" r:id="rId2"/>
    <p:sldId id="747" r:id="rId3"/>
    <p:sldId id="750" r:id="rId4"/>
    <p:sldId id="770" r:id="rId5"/>
    <p:sldId id="756" r:id="rId6"/>
    <p:sldId id="748" r:id="rId7"/>
    <p:sldId id="771" r:id="rId8"/>
    <p:sldId id="754" r:id="rId9"/>
    <p:sldId id="753" r:id="rId10"/>
    <p:sldId id="772" r:id="rId11"/>
    <p:sldId id="767" r:id="rId12"/>
    <p:sldId id="752" r:id="rId13"/>
    <p:sldId id="768" r:id="rId14"/>
    <p:sldId id="769" r:id="rId15"/>
    <p:sldId id="751" r:id="rId16"/>
    <p:sldId id="755" r:id="rId17"/>
    <p:sldId id="757" r:id="rId18"/>
    <p:sldId id="758" r:id="rId19"/>
    <p:sldId id="759" r:id="rId20"/>
    <p:sldId id="764" r:id="rId21"/>
    <p:sldId id="765" r:id="rId22"/>
    <p:sldId id="760" r:id="rId23"/>
    <p:sldId id="766" r:id="rId24"/>
    <p:sldId id="762" r:id="rId25"/>
    <p:sldId id="761" r:id="rId26"/>
    <p:sldId id="763" r:id="rId27"/>
  </p:sldIdLst>
  <p:sldSz cx="12192000" cy="6858000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>
          <p15:clr>
            <a:srgbClr val="A4A3A4"/>
          </p15:clr>
        </p15:guide>
        <p15:guide id="2" pos="383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0CFF"/>
    <a:srgbClr val="FF2C80"/>
    <a:srgbClr val="2AFFFF"/>
    <a:srgbClr val="FFFF25"/>
    <a:srgbClr val="FF400F"/>
    <a:srgbClr val="00FF00"/>
    <a:srgbClr val="FFFF22"/>
    <a:srgbClr val="E08000"/>
    <a:srgbClr val="E00080"/>
    <a:srgbClr val="7ED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78" autoAdjust="0"/>
    <p:restoredTop sz="93276" autoAdjust="0"/>
  </p:normalViewPr>
  <p:slideViewPr>
    <p:cSldViewPr snapToGrid="0" snapToObjects="1">
      <p:cViewPr varScale="1">
        <p:scale>
          <a:sx n="84" d="100"/>
          <a:sy n="84" d="100"/>
        </p:scale>
        <p:origin x="114" y="510"/>
      </p:cViewPr>
      <p:guideLst>
        <p:guide orient="horz" pos="2157"/>
        <p:guide pos="3837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E67B0713-3A9E-4598-A7F3-A3542C298E70}" type="datetime1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322A0C63-D314-4CAA-8F58-937B5F81CF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73073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65335-F866-F0A8-B8A6-6BB22C1C8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BB8C7D-6306-4FC5-DE99-249BEA3A221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0CC340-8B40-0163-F108-2EE55EA66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lvl="2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76DAC4-15CA-9CC3-2590-713EF5233D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22A0C63-D314-4CAA-8F58-937B5F81CF23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4605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A30F6-5F63-E1C7-EF51-57CD0BC4D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F96583-898B-6631-7478-CEA798D8F2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F2E187C-3E66-9C25-4DB0-C872B146D4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lvl="2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65D8F6-A7CE-FAFA-6E7B-CE974825A9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22A0C63-D314-4CAA-8F58-937B5F81CF23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0125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66BD1-E0BA-3CEF-A86C-7B0E0D182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C77BF95-8F80-7FEC-6609-D7A649BE5AC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5F8B01-4832-C0E8-9706-6ADD91DB9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lvl="2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F0500C-437E-9AB4-26FC-A62819AFA6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22A0C63-D314-4CAA-8F58-937B5F81CF23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76267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ECC0A-A0EA-EDA1-D1F0-807109CD3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EF99C4D-B8FF-24C4-4239-592D052E21B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97585C3-CB76-0710-46FF-E5E7BA3016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lvl="2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EB3316-3F9B-5391-AF51-79850B80BC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22A0C63-D314-4CAA-8F58-937B5F81CF2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5185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578BF-B2C6-BC98-C837-F8368111C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4774EA-D57A-B272-D02B-161C4ECAAA4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00E2CB-7D41-D3F6-035E-0FAC593DD7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lvl="2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0E51B-9B33-8B49-778E-D38DFC903D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22A0C63-D314-4CAA-8F58-937B5F81CF2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57623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F9EB6-B4D4-9CB8-9E33-1E9489D8D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7523C71-A580-DA07-11A0-A9141B791F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D74D76-5FE5-BFD6-A445-2D82EACBFD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lvl="2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D0D9A1-E337-1203-61AF-AF292692FE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22A0C63-D314-4CAA-8F58-937B5F81CF2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0243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D8BDD-D22B-52BA-E328-01D80810F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33DAEC-2266-C04B-8A3A-EC3075C8D6A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82AFFD9-A394-7B97-3F3C-8E9999709E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lvl="2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E22EB4-241B-40A8-C142-8386EAB929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22A0C63-D314-4CAA-8F58-937B5F81CF2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78698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48311-D7C9-2D9C-742A-5346511A8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EBFF32-0008-2B61-232C-67DC0B74D62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BAEBB8-DD52-3323-AEFA-81FB478E9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lvl="2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6A841E-93B8-A373-C7EB-F0E601680D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22A0C63-D314-4CAA-8F58-937B5F81CF2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95637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99ECC-0ADE-00B1-460D-C1D269836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7646D97-23E1-2EE8-62EA-1DF99B5F56F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C32123-E155-BB48-9BB6-917F863350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lvl="2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DF1BE0-3C17-B255-4850-A9EEFFAD58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22A0C63-D314-4CAA-8F58-937B5F81CF23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77130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46782-D33A-9092-4A89-14D272CB0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825C15-2588-FFFB-6F27-B41E53CF101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05D02D-B80D-D497-9B0C-7735D6118B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lvl="2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9BE5A0-8E93-C4E6-DB84-C6E9E3BAF2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22A0C63-D314-4CAA-8F58-937B5F81CF23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41285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00AC4-9B3D-1580-D108-6C50F6C62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7829A5-78D1-B53B-4D8E-951876F3290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B6E677-3B39-71BC-BD04-E4C22C35E4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lvl="2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533788-D51D-D48C-C3B3-9F3B5E50CD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22A0C63-D314-4CAA-8F58-937B5F81CF23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49744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66B9B-36F8-0968-9E23-4E50AE74E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F9244B-5B26-F192-8252-D05F258E7E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BB4A90-A08D-D328-A814-483B961147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lvl="2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CCE9DD-796A-C5AA-F21C-72B45FDF8E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22A0C63-D314-4CAA-8F58-937B5F81CF23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11911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93A86-7ED6-D4BC-81B4-07901A016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6DB9C6-5400-FAE6-4B8F-88CEF86C4FB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CC26E9-ED7C-D29B-8A7F-CC14DE8D1D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lvl="2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3D091C-3191-6C33-F693-37FD2AF916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22A0C63-D314-4CAA-8F58-937B5F81CF23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61251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A8259-E97A-A427-5BC7-1CF22C81D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773FD5-7573-0068-B817-098E965738D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6ED9B1-0C30-AC6C-9AA0-558561516E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lvl="2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20EC03-94F0-D780-0ED5-E45E188DB5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22A0C63-D314-4CAA-8F58-937B5F81CF23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84847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29417-66D1-ACAD-EE07-AE219A070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A7CA4D-CDB1-93C0-99EB-6AF7D2E8C9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BC77EB-E379-CBFB-8D1B-FCC4AC107F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lvl="2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A40CAD-4D3B-1A06-3E5C-0471362D51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22A0C63-D314-4CAA-8F58-937B5F81CF23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47423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2E5AB-8322-8EA4-466D-008CAA211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DF66BF-A9CA-B596-B660-C7DC20950F1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8ACD70-C2A7-C5C0-2176-654BF61B0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lvl="2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27410B-5BED-D4F4-BEAD-5FE05DACBE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22A0C63-D314-4CAA-8F58-937B5F81CF23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11341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801A9-640F-BCCA-3A46-7E91186D5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991062-DA91-9A6D-5A9D-C3DA801941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1002A6-D8BE-D4D3-6DCF-714CB30A1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lvl="2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721991-FAA8-48E7-AE17-94DDD1B694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22A0C63-D314-4CAA-8F58-937B5F81CF23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19069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87A14-F731-70EE-0B82-EC2EEF456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AEA7F2-4E70-6BB4-0E66-EC7E2755A62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26C1D9-2C2B-278C-9A20-D7B3FCC6F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lvl="2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3533A1-4D7F-87C0-9585-BE0E785DB7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22A0C63-D314-4CAA-8F58-937B5F81CF23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28714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C11D3-E452-98D8-3B9E-A3DC68FEB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DE2828-D5F3-875A-E8A5-9BCAAB1D909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8D5AA0-C4B4-46B2-F853-9423410F2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lvl="2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EA1239-5169-71C4-4314-D586E91323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22A0C63-D314-4CAA-8F58-937B5F81CF23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29568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B4FBD-AD88-79EB-FC5B-A4FED6E92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C07FC1-B0E3-AC9F-F123-E7C249C961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465F4BF-37D9-0166-ECFC-AD73A20B83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lvl="2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C34BD5-5B12-76D0-7C3E-700FEF46BD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22A0C63-D314-4CAA-8F58-937B5F81CF23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30862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BD15A-F4B9-BFC8-6D8E-EF0BC0A4C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051779-186B-3A03-03D8-D9B47DE2821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30F8FF-E000-5D0B-3DC2-4990439413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lvl="2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34455F-F467-35D6-AD21-7A58F4622B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22A0C63-D314-4CAA-8F58-937B5F81CF23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1737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C47A0-F109-5813-9B30-B012E8093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631E97-CC6D-0B7F-DF7F-80004FB4FC0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37F545-5207-F19D-AD19-D3E8ABEC6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lvl="2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F6C30C-F6AB-D387-71CE-6544879311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22A0C63-D314-4CAA-8F58-937B5F81CF23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9318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12692-2EFD-E5DB-B32E-FDBECE0C2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0F1BF5-FC39-5B6A-BBC8-0444353C834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A3DC5D-852D-B09F-129E-8035B988F2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lvl="2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693236-7DB8-E61E-75AA-37CD130BF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22A0C63-D314-4CAA-8F58-937B5F81CF23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38972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0ABDF-54C6-33E1-B026-812E8715A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5572A2-719E-6839-0557-4845767A4E8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4287F7-D1E8-E045-5EB8-1423807F38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lvl="2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CFD5B5-A3B6-F560-FF4A-499D76CEEB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22A0C63-D314-4CAA-8F58-937B5F81CF23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61614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CFDDF-CC3B-2255-C388-A408D4C25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9BF796-C07F-574A-C7AF-1738D3207F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B871CE-DB6E-BF45-E654-D4BF322DD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lvl="2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E0F1BF-85E1-1753-973A-4E19CB8C50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22A0C63-D314-4CAA-8F58-937B5F81CF23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10745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EB9BB-817C-C6B5-7FB4-358439560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1E3702-B2EA-B0DD-0FC5-C272C953FA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458BA6-773E-7292-93B9-CBABA24FE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lvl="2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7EAA21-1A88-7D5A-3060-5013FC3D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22A0C63-D314-4CAA-8F58-937B5F81CF23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9908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9ECE32-4D23-3B41-8610-3D18F67CB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C487893-70F9-7F42-B6A7-2EAAF82112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AF1366-AF72-C942-BDBF-E04EF1672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0B29-4176-42B7-8CA0-32BA17B4E95E}" type="datetime1">
              <a:rPr kumimoji="1" lang="ko-KR" altLang="en-US" smtClean="0"/>
              <a:t>2026-02-02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0553AA-C7E0-F645-984D-0E79113B2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3FA21A-4308-A846-AD3A-355172DD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62013-18DE-694B-8530-F54ECFB6315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85467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EBB888-890C-5D4E-932A-490D53912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649538-157D-4C42-AACC-C423F2EFC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20ED94-2C0A-4A43-9C53-642379BE7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11D04-7DF8-4844-A97F-9513FAB61FAC}" type="datetime1">
              <a:rPr kumimoji="1" lang="ko-KR" altLang="en-US" smtClean="0"/>
              <a:t>2026-02-02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B1DB25-1A71-8E4C-9A86-F0C1B2480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AA5FF4-4BE2-7F4B-ABB7-FDF1A1C2C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62013-18DE-694B-8530-F54ECFB6315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44798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0E1C4A-42D7-3843-A1A7-B2BE8E09F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25881E-2CCA-BD46-A1BC-F4660F2FA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B6A5CB-21B5-0047-A462-ADDD68375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10FD-92D7-4537-B24E-6D45B9BC6B01}" type="datetime1">
              <a:rPr kumimoji="1" lang="ko-KR" altLang="en-US" smtClean="0"/>
              <a:t>2026-02-02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2D823F-2BFE-9641-B6B1-1C1DF7E32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46AF35-5764-0541-A628-959FE8627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62013-18DE-694B-8530-F54ECFB6315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29766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322D3D-391A-DE48-8987-0EC712F17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A93F80-298F-3B45-B8C9-E86CE5155C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349A30-F18C-764B-8F23-4BC387118B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3A87730-F8E7-8947-926E-15AD83CBA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EA817-BE2E-49B0-BBDC-F44E1FAA8AB9}" type="datetime1">
              <a:rPr kumimoji="1" lang="ko-KR" altLang="en-US" smtClean="0"/>
              <a:t>2026-02-02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40E56F-5E3F-A641-9137-84078DA14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EF3846-2061-F348-B065-E6ED33188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62013-18DE-694B-8530-F54ECFB6315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82125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73D0AF-3F7D-454F-89D7-CEBECB0C7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F625C3-50C1-9E4F-BC1C-F3E81BBB2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4F074C7-05C0-3A48-B76D-2C33D4923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8A44724-C85F-3343-91AA-E839F7BD1B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783B349-5EB2-B846-92F8-611A150E6C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3CEDDB3-A321-5645-80AD-2DAB667F3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56966-555D-4D16-AA57-6A622767AA92}" type="datetime1">
              <a:rPr kumimoji="1" lang="ko-KR" altLang="en-US" smtClean="0"/>
              <a:t>2026-02-02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F7492C3-EF29-2642-92BB-79ECFC9FD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6851D67-11A7-6948-A929-842E11A20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62013-18DE-694B-8530-F54ECFB6315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18522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92BC8B-CA11-B144-AE77-896D93043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A81688D-D648-FC46-96BC-17420D96D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D0A14-3076-44C0-859C-FE834762FAE5}" type="datetime1">
              <a:rPr kumimoji="1" lang="ko-KR" altLang="en-US" smtClean="0"/>
              <a:t>2026-02-02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95FC573-1BC9-A348-A63D-FF668F0DE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0023D52-AA60-9D41-9969-2250ADFB3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62013-18DE-694B-8530-F54ECFB6315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74081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63BA6CD-F9DE-4B44-8DB9-1F27EABE1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53870-DAC3-401D-A5B5-2A028283F62A}" type="datetime1">
              <a:rPr kumimoji="1" lang="ko-KR" altLang="en-US" smtClean="0"/>
              <a:t>2026-02-02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E5E48BB-5D2D-074D-8861-66954926C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5F34C2-CDFB-4348-A977-3E93AD485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62013-18DE-694B-8530-F54ECFB6315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98181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DDC787-6AA5-3A4E-9E55-B747DE1D7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2A876C-A9B3-784B-9FF1-BDA5EE932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95AF3-0645-1045-9B52-B9F29D13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0362CD-8465-6746-8001-05B7AB95D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BBD06-2D4F-4835-A1C4-2B0825EE3A92}" type="datetime1">
              <a:rPr kumimoji="1" lang="ko-KR" altLang="en-US" smtClean="0"/>
              <a:t>2026-02-02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688DF6-8317-F140-AB50-D5FE52583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647A0A-BBF1-0146-9327-B37BD513E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62013-18DE-694B-8530-F54ECFB6315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79787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A57335-81D3-4E43-82DE-B02160230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28CB0A8-E4AE-2C43-9408-C191E941A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A5F3CA-6DEB-344C-947D-9FC4B132EB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6D3A5B-9D9C-E24D-B131-A8C07BF72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66B88-3E03-4991-9BE1-5A70DF86CA1B}" type="datetime1">
              <a:rPr kumimoji="1" lang="ko-KR" altLang="en-US" smtClean="0"/>
              <a:t>2026-02-02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F7D714-56AA-B142-882A-D8DB8F05E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124C7E-2633-A048-A0E9-F7F7B76FB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62013-18DE-694B-8530-F54ECFB6315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55288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1AF878-9D9F-A842-8D44-CCF1579E7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01BD9A5-B03E-414B-8A2A-51C273C120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F8EF31-11F1-D746-AB47-E5ACAE107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FE7BF-16D2-4604-9577-9846137A07DD}" type="datetime1">
              <a:rPr kumimoji="1" lang="ko-KR" altLang="en-US" smtClean="0"/>
              <a:t>2026-02-02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1B96BD-CCAC-D54C-A99D-D5EEA44F0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15F232-BB22-A54D-B2DD-D089AB155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62013-18DE-694B-8530-F54ECFB6315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89994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A46D678-DC4D-0644-8FEF-268EB8EFA6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B96A54-FCA9-4944-AFDC-2CB24F6EA7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296B84-BAD7-044A-8592-F8551B36C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13524-109D-4452-B164-4D00F7F99A92}" type="datetime1">
              <a:rPr kumimoji="1" lang="ko-KR" altLang="en-US" smtClean="0"/>
              <a:t>2026-02-02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A639F0-035A-6843-A0C1-8E8923220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9AA6CE-91DC-C944-8A02-61F57E498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62013-18DE-694B-8530-F54ECFB6315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14356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8E83CDD-C312-3646-87F0-C2E1BA1A4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68B5B9-77C5-C34B-A45A-683B1F346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B59602-1106-0F4E-B8D8-900FA0743F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5E4812-A49B-4BFC-9FFD-24B4B7C2595B}" type="datetime1">
              <a:rPr kumimoji="1" lang="ko-KR" altLang="en-US" smtClean="0"/>
              <a:t>2026-02-02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351164-0108-AE45-A4DE-39BAA5A68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1A537E-73A2-CA48-805E-7CB9E86C85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62013-18DE-694B-8530-F54ECFB63153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sp>
        <p:nvSpPr>
          <p:cNvPr id="7" name="正方形/長方形 1">
            <a:extLst>
              <a:ext uri="{FF2B5EF4-FFF2-40B4-BE49-F238E27FC236}">
                <a16:creationId xmlns:a16="http://schemas.microsoft.com/office/drawing/2014/main" id="{FA892073-C90F-DA43-B494-BD860D81F8C5}"/>
              </a:ext>
            </a:extLst>
          </p:cNvPr>
          <p:cNvSpPr/>
          <p:nvPr userDrawn="1"/>
        </p:nvSpPr>
        <p:spPr>
          <a:xfrm>
            <a:off x="0" y="0"/>
            <a:ext cx="12192000" cy="7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8" name="正方形/長方形 2">
            <a:extLst>
              <a:ext uri="{FF2B5EF4-FFF2-40B4-BE49-F238E27FC236}">
                <a16:creationId xmlns:a16="http://schemas.microsoft.com/office/drawing/2014/main" id="{B482FF28-84D2-A242-8432-3E96AEAE6297}"/>
              </a:ext>
            </a:extLst>
          </p:cNvPr>
          <p:cNvSpPr/>
          <p:nvPr userDrawn="1"/>
        </p:nvSpPr>
        <p:spPr>
          <a:xfrm>
            <a:off x="0" y="6792927"/>
            <a:ext cx="12192000" cy="7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68807897-B232-114B-8A08-993830111BC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610165" y="86694"/>
            <a:ext cx="1487269" cy="244718"/>
            <a:chOff x="3752851" y="3109913"/>
            <a:chExt cx="2478781" cy="407863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2361A867-C18C-0849-8F02-F30824CF4F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3752851" y="3109913"/>
              <a:ext cx="1035174" cy="403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" name="Picture 3">
              <a:extLst>
                <a:ext uri="{FF2B5EF4-FFF2-40B4-BE49-F238E27FC236}">
                  <a16:creationId xmlns:a16="http://schemas.microsoft.com/office/drawing/2014/main" id="{62117250-2E54-6A4F-8EC0-839316DCCA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/>
            <a:srcRect/>
            <a:stretch>
              <a:fillRect/>
            </a:stretch>
          </p:blipFill>
          <p:spPr bwMode="auto">
            <a:xfrm>
              <a:off x="4860032" y="3212976"/>
              <a:ext cx="13716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FEE3D0A-359A-F44D-A5A5-521AB084432C}"/>
              </a:ext>
            </a:extLst>
          </p:cNvPr>
          <p:cNvGrpSpPr/>
          <p:nvPr userDrawn="1"/>
        </p:nvGrpSpPr>
        <p:grpSpPr>
          <a:xfrm>
            <a:off x="11459126" y="6517504"/>
            <a:ext cx="638308" cy="239697"/>
            <a:chOff x="8028384" y="147738"/>
            <a:chExt cx="972740" cy="328934"/>
          </a:xfrm>
        </p:grpSpPr>
        <p:pic>
          <p:nvPicPr>
            <p:cNvPr id="13" name="Picture 2" descr="http://icsl.kangwon.ac.kr/_oxdir/data/design/logo.jpg">
              <a:extLst>
                <a:ext uri="{FF2B5EF4-FFF2-40B4-BE49-F238E27FC236}">
                  <a16:creationId xmlns:a16="http://schemas.microsoft.com/office/drawing/2014/main" id="{79957717-962D-7949-95F9-A11AFC11B9D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5" cstate="print"/>
            <a:srcRect/>
            <a:stretch>
              <a:fillRect/>
            </a:stretch>
          </p:blipFill>
          <p:spPr bwMode="auto">
            <a:xfrm>
              <a:off x="8215338" y="147738"/>
              <a:ext cx="785786" cy="328934"/>
            </a:xfrm>
            <a:prstGeom prst="rect">
              <a:avLst/>
            </a:prstGeom>
            <a:noFill/>
          </p:spPr>
        </p:pic>
        <p:pic>
          <p:nvPicPr>
            <p:cNvPr id="14" name="그림 13" descr="다이포토.JPG">
              <a:extLst>
                <a:ext uri="{FF2B5EF4-FFF2-40B4-BE49-F238E27FC236}">
                  <a16:creationId xmlns:a16="http://schemas.microsoft.com/office/drawing/2014/main" id="{A709733F-3565-A944-8F5F-508A48037D1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 cstate="print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tretch>
              <a:fillRect/>
            </a:stretch>
          </p:blipFill>
          <p:spPr>
            <a:xfrm>
              <a:off x="8028384" y="188640"/>
              <a:ext cx="216024" cy="23703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scene3d>
              <a:camera prst="isometricOffAxis1Right"/>
              <a:lightRig rig="threePt" dir="t"/>
            </a:scene3d>
          </p:spPr>
        </p:pic>
      </p:grpSp>
    </p:spTree>
    <p:extLst>
      <p:ext uri="{BB962C8B-B14F-4D97-AF65-F5344CB8AC3E}">
        <p14:creationId xmlns:p14="http://schemas.microsoft.com/office/powerpoint/2010/main" val="3510062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650E1-5EE8-F7E4-AA24-AFCE26988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F76478-BEE5-0282-EDE2-FE431D534CCF}"/>
              </a:ext>
            </a:extLst>
          </p:cNvPr>
          <p:cNvSpPr txBox="1"/>
          <p:nvPr/>
        </p:nvSpPr>
        <p:spPr>
          <a:xfrm>
            <a:off x="5448723" y="3198167"/>
            <a:ext cx="1294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1" dirty="0">
                <a:solidFill>
                  <a:prstClr val="black"/>
                </a:solidFill>
                <a:latin typeface="Georgia" panose="02040502050405020303" pitchFamily="18" charset="0"/>
                <a:ea typeface="맑은 고딕" panose="020B0503020000020004" pitchFamily="50" charset="-127"/>
              </a:rPr>
              <a:t>Layout</a:t>
            </a:r>
            <a:endParaRPr kumimoji="1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C3F8453B-64B4-5846-8CDF-03C8C9F1B79C}"/>
              </a:ext>
            </a:extLst>
          </p:cNvPr>
          <p:cNvSpPr txBox="1"/>
          <p:nvPr/>
        </p:nvSpPr>
        <p:spPr>
          <a:xfrm>
            <a:off x="8519200" y="5690845"/>
            <a:ext cx="367280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kumimoji="1" lang="en-US" altLang="ko-KR" sz="2500" dirty="0">
                <a:latin typeface="Georgia" panose="02040502050405020303" pitchFamily="18" charset="0"/>
              </a:rPr>
              <a:t>Minju Cho</a:t>
            </a:r>
          </a:p>
          <a:p>
            <a:pPr algn="r"/>
            <a:r>
              <a:rPr kumimoji="1" lang="en-US" altLang="ko-KR" sz="2500" dirty="0" err="1">
                <a:latin typeface="Georgia" panose="02040502050405020303" pitchFamily="18" charset="0"/>
              </a:rPr>
              <a:t>Kangwon</a:t>
            </a:r>
            <a:r>
              <a:rPr kumimoji="1" lang="en-US" altLang="ko-KR" sz="2500" dirty="0">
                <a:latin typeface="Georgia" panose="02040502050405020303" pitchFamily="18" charset="0"/>
              </a:rPr>
              <a:t> National Univ.</a:t>
            </a:r>
            <a:endParaRPr kumimoji="1" lang="ko-KR" altLang="en-US" sz="25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15544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826B1-DE35-2930-39E5-76C840E8C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11AA57C-D57A-405A-C3BB-518D7A5A5D49}"/>
              </a:ext>
            </a:extLst>
          </p:cNvPr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6388C4B-FAE0-57BB-4675-2F03B067F18A}"/>
              </a:ext>
            </a:extLst>
          </p:cNvPr>
          <p:cNvCxnSpPr>
            <a:cxnSpLocks/>
            <a:endCxn id="7" idx="3"/>
          </p:cNvCxnSpPr>
          <p:nvPr/>
        </p:nvCxnSpPr>
        <p:spPr>
          <a:xfrm>
            <a:off x="1200150" y="464442"/>
            <a:ext cx="106996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F27079A-2CB1-E62A-075D-C885E293DD20}"/>
              </a:ext>
            </a:extLst>
          </p:cNvPr>
          <p:cNvSpPr txBox="1"/>
          <p:nvPr/>
        </p:nvSpPr>
        <p:spPr>
          <a:xfrm>
            <a:off x="623684" y="551930"/>
            <a:ext cx="2037737" cy="57541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nch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vs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nmos_rf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DRC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LVS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PEX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Comparison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73723755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220C2-4B8F-443A-595B-133C8B19F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ABB0EBB-7A5C-5215-77BB-0DC3D53D33A6}"/>
              </a:ext>
            </a:extLst>
          </p:cNvPr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nch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vs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nmos_rf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4147F49-FDB8-7FBD-B248-394E216039B2}"/>
              </a:ext>
            </a:extLst>
          </p:cNvPr>
          <p:cNvCxnSpPr>
            <a:cxnSpLocks/>
            <a:endCxn id="7" idx="3"/>
          </p:cNvCxnSpPr>
          <p:nvPr/>
        </p:nvCxnSpPr>
        <p:spPr>
          <a:xfrm>
            <a:off x="2090057" y="464442"/>
            <a:ext cx="98097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E7EA250-80D9-00F2-94CD-5B1CF156BD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065428"/>
              </p:ext>
            </p:extLst>
          </p:nvPr>
        </p:nvGraphicFramePr>
        <p:xfrm>
          <a:off x="292214" y="868678"/>
          <a:ext cx="11607573" cy="5524874"/>
        </p:xfrm>
        <a:graphic>
          <a:graphicData uri="http://schemas.openxmlformats.org/drawingml/2006/table">
            <a:tbl>
              <a:tblPr/>
              <a:tblGrid>
                <a:gridCol w="3869191">
                  <a:extLst>
                    <a:ext uri="{9D8B030D-6E8A-4147-A177-3AD203B41FA5}">
                      <a16:colId xmlns:a16="http://schemas.microsoft.com/office/drawing/2014/main" val="1538053873"/>
                    </a:ext>
                  </a:extLst>
                </a:gridCol>
                <a:gridCol w="3869191">
                  <a:extLst>
                    <a:ext uri="{9D8B030D-6E8A-4147-A177-3AD203B41FA5}">
                      <a16:colId xmlns:a16="http://schemas.microsoft.com/office/drawing/2014/main" val="236066239"/>
                    </a:ext>
                  </a:extLst>
                </a:gridCol>
                <a:gridCol w="3869191">
                  <a:extLst>
                    <a:ext uri="{9D8B030D-6E8A-4147-A177-3AD203B41FA5}">
                      <a16:colId xmlns:a16="http://schemas.microsoft.com/office/drawing/2014/main" val="2264832812"/>
                    </a:ext>
                  </a:extLst>
                </a:gridCol>
              </a:tblGrid>
              <a:tr h="51205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구분</a:t>
                      </a:r>
                      <a:endParaRPr lang="ko-KR" altLang="en-US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 err="1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nch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(Standard)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nmos_rf (RF)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8143335"/>
                  </a:ext>
                </a:extLst>
              </a:tr>
              <a:tr h="65989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주요 용도</a:t>
                      </a:r>
                      <a:endParaRPr lang="ko-KR" altLang="en-US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디지털 로직</a:t>
                      </a:r>
                      <a:r>
                        <a:rPr lang="en-US" altLang="ko-KR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저주파 </a:t>
                      </a:r>
                      <a:r>
                        <a:rPr lang="en-US" altLang="ko-KR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Analog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LNA, Mixer, VCO </a:t>
                      </a:r>
                      <a:r>
                        <a:rPr lang="ko-KR" altLang="en-US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등 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RF </a:t>
                      </a:r>
                      <a:r>
                        <a:rPr lang="ko-KR" altLang="en-US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회로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785158"/>
                  </a:ext>
                </a:extLst>
              </a:tr>
              <a:tr h="65989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b="1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모델링 정밀도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DC </a:t>
                      </a:r>
                      <a:r>
                        <a:rPr lang="ko-KR" altLang="en-US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및 저주파 위주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GHz </a:t>
                      </a:r>
                      <a:r>
                        <a:rPr lang="ko-KR" altLang="en-US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대역 고주파 특성 포함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110130"/>
                  </a:ext>
                </a:extLst>
              </a:tr>
              <a:tr h="74931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Layout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최소 면적</a:t>
                      </a:r>
                      <a:endParaRPr lang="en-US" altLang="ko-KR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Guard Ring </a:t>
                      </a:r>
                      <a:r>
                        <a:rPr lang="ko-KR" altLang="en-US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포함</a:t>
                      </a:r>
                      <a:endParaRPr lang="en-US" altLang="ko-KR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7811573"/>
                  </a:ext>
                </a:extLst>
              </a:tr>
              <a:tr h="74931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Gate </a:t>
                      </a:r>
                      <a:r>
                        <a:rPr lang="ko-KR" altLang="en-US" b="1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저항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대략적 모델링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정밀 모델링</a:t>
                      </a:r>
                      <a:endParaRPr lang="en-US" altLang="ko-KR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243688"/>
                  </a:ext>
                </a:extLst>
              </a:tr>
              <a:tr h="219441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Deep N-well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dirty="0"/>
                        <a:t>Bulk</a:t>
                      </a:r>
                      <a:r>
                        <a:rPr lang="ko-KR" altLang="en-US" dirty="0"/>
                        <a:t>가 공통 </a:t>
                      </a:r>
                      <a:r>
                        <a:rPr lang="en-US" altLang="ko-KR" dirty="0"/>
                        <a:t>P-sub</a:t>
                      </a:r>
                      <a:r>
                        <a:rPr lang="ko-KR" altLang="en-US" dirty="0"/>
                        <a:t>에 연결되는 </a:t>
                      </a:r>
                      <a:endParaRPr lang="en-US" altLang="ko-KR" dirty="0"/>
                    </a:p>
                    <a:p>
                      <a:pPr rtl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dirty="0"/>
                        <a:t>경우가 많아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거의 불필요</a:t>
                      </a:r>
                      <a:endParaRPr lang="ko-KR" altLang="en-US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기판을 통해 들어오는 다른 회로의 노이즈를 차단하기 위해</a:t>
                      </a:r>
                      <a:r>
                        <a:rPr lang="en-US" altLang="ko-KR" dirty="0"/>
                        <a:t>,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NMOS</a:t>
                      </a:r>
                      <a:r>
                        <a:rPr lang="ko-KR" altLang="en-US" dirty="0"/>
                        <a:t>의 </a:t>
                      </a:r>
                      <a:r>
                        <a:rPr lang="en-US" altLang="ko-KR" dirty="0"/>
                        <a:t>Bulk</a:t>
                      </a:r>
                      <a:r>
                        <a:rPr lang="ko-KR" altLang="en-US" dirty="0"/>
                        <a:t>를 독립적인 노드로 분리하는 경우가 많음</a:t>
                      </a:r>
                      <a:endParaRPr lang="en-US" altLang="ko-KR" dirty="0"/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135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958159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E6321-5CF8-71EF-DCB8-C405A86DC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3B6EED4-6E2C-A11F-B824-C4AC89136B06}"/>
              </a:ext>
            </a:extLst>
          </p:cNvPr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nch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vs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nmos_rf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4DEC519-55BA-E074-D1D4-9BEDC197E8EF}"/>
              </a:ext>
            </a:extLst>
          </p:cNvPr>
          <p:cNvCxnSpPr>
            <a:cxnSpLocks/>
            <a:endCxn id="7" idx="3"/>
          </p:cNvCxnSpPr>
          <p:nvPr/>
        </p:nvCxnSpPr>
        <p:spPr>
          <a:xfrm>
            <a:off x="2090057" y="464442"/>
            <a:ext cx="98097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E936F9C-8AFF-7A2C-3CA1-6647A5A9C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153" y="2216467"/>
            <a:ext cx="11587693" cy="2425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07789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FF9E1-2FBA-AC6E-CD1F-836BCA05C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CA7B9FC-D8C5-DBC6-5929-5F17D8956C1C}"/>
              </a:ext>
            </a:extLst>
          </p:cNvPr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nch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vs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nmos_rf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C808193-78CF-19A9-D301-18A2CCEB93C2}"/>
              </a:ext>
            </a:extLst>
          </p:cNvPr>
          <p:cNvCxnSpPr>
            <a:cxnSpLocks/>
            <a:endCxn id="7" idx="3"/>
          </p:cNvCxnSpPr>
          <p:nvPr/>
        </p:nvCxnSpPr>
        <p:spPr>
          <a:xfrm>
            <a:off x="2090057" y="464442"/>
            <a:ext cx="98097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 descr="텍스트, 도표, 평면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99C19AD-55AA-91CD-1206-ADC43F905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90" y="3066356"/>
            <a:ext cx="8047200" cy="3009522"/>
          </a:xfrm>
          <a:prstGeom prst="rect">
            <a:avLst/>
          </a:prstGeom>
        </p:spPr>
      </p:pic>
      <p:pic>
        <p:nvPicPr>
          <p:cNvPr id="8" name="그림 7" descr="텍스트, 스크린샷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20058F-2256-A452-464D-26F4089DDE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8603" y="916067"/>
            <a:ext cx="5057775" cy="18097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951E0D1-5CC1-70E1-1270-796B5193C5A5}"/>
              </a:ext>
            </a:extLst>
          </p:cNvPr>
          <p:cNvSpPr txBox="1"/>
          <p:nvPr/>
        </p:nvSpPr>
        <p:spPr>
          <a:xfrm>
            <a:off x="10191391" y="1601153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nch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12AE20D-EA86-0D85-F1BA-2435B02E36F0}"/>
              </a:ext>
            </a:extLst>
          </p:cNvPr>
          <p:cNvSpPr/>
          <p:nvPr/>
        </p:nvSpPr>
        <p:spPr>
          <a:xfrm>
            <a:off x="292214" y="845820"/>
            <a:ext cx="11607572" cy="5559168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0C3045E-A678-F079-1E48-B9F5EE41FA69}"/>
              </a:ext>
            </a:extLst>
          </p:cNvPr>
          <p:cNvSpPr/>
          <p:nvPr/>
        </p:nvSpPr>
        <p:spPr>
          <a:xfrm>
            <a:off x="9042766" y="834390"/>
            <a:ext cx="2857020" cy="5570598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2E57B67-EF49-DCB7-FECA-45A4B292C109}"/>
              </a:ext>
            </a:extLst>
          </p:cNvPr>
          <p:cNvSpPr/>
          <p:nvPr/>
        </p:nvSpPr>
        <p:spPr>
          <a:xfrm>
            <a:off x="292214" y="2725817"/>
            <a:ext cx="11607572" cy="3690601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00DC4E-F0E9-936D-BCAD-8DDDA6374B63}"/>
              </a:ext>
            </a:extLst>
          </p:cNvPr>
          <p:cNvSpPr txBox="1"/>
          <p:nvPr/>
        </p:nvSpPr>
        <p:spPr>
          <a:xfrm>
            <a:off x="9962995" y="4386451"/>
            <a:ext cx="1016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nmos_rf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79865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4238F-8C97-FAC6-0F2D-D17B8BDDD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E6A75BB-6B2B-00D4-FB82-50C48B6304F4}"/>
              </a:ext>
            </a:extLst>
          </p:cNvPr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9C91140-AC70-4021-41C6-90589DDB9E61}"/>
              </a:ext>
            </a:extLst>
          </p:cNvPr>
          <p:cNvCxnSpPr>
            <a:cxnSpLocks/>
            <a:endCxn id="7" idx="3"/>
          </p:cNvCxnSpPr>
          <p:nvPr/>
        </p:nvCxnSpPr>
        <p:spPr>
          <a:xfrm>
            <a:off x="1203649" y="464442"/>
            <a:ext cx="106961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 descr="텍스트, 다채로움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0D2E69-A1D5-DB9B-3D45-96A12D079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3089" y="649108"/>
            <a:ext cx="1474917" cy="5899668"/>
          </a:xfrm>
          <a:prstGeom prst="rect">
            <a:avLst/>
          </a:prstGeom>
        </p:spPr>
      </p:pic>
      <p:pic>
        <p:nvPicPr>
          <p:cNvPr id="34" name="그림 33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00ECC6-76EE-4EAC-973B-C10DB56A31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817" y="1033462"/>
            <a:ext cx="5676900" cy="47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5651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9B36E-C029-E822-F79E-F5BF34B4F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A124107-EB14-5721-8815-DB17632F1C30}"/>
              </a:ext>
            </a:extLst>
          </p:cNvPr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90E08FEC-DDF5-0EAB-1F6C-95308D59F9E7}"/>
              </a:ext>
            </a:extLst>
          </p:cNvPr>
          <p:cNvCxnSpPr>
            <a:cxnSpLocks/>
            <a:endCxn id="7" idx="3"/>
          </p:cNvCxnSpPr>
          <p:nvPr/>
        </p:nvCxnSpPr>
        <p:spPr>
          <a:xfrm>
            <a:off x="1203649" y="464442"/>
            <a:ext cx="106961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 descr="텍스트, 다채로움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355F4C-6FEA-6D02-4271-0AC22321F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649" y="649108"/>
            <a:ext cx="1474917" cy="5899668"/>
          </a:xfrm>
          <a:prstGeom prst="rect">
            <a:avLst/>
          </a:prstGeom>
        </p:spPr>
      </p:pic>
      <p:pic>
        <p:nvPicPr>
          <p:cNvPr id="16" name="그림 15" descr="직사각형, 도표, 라인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38A36B-8A7B-D72B-BE86-A3DED74AD6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7686" y="833774"/>
            <a:ext cx="5905500" cy="2495550"/>
          </a:xfrm>
          <a:prstGeom prst="rect">
            <a:avLst/>
          </a:prstGeom>
        </p:spPr>
      </p:pic>
      <p:pic>
        <p:nvPicPr>
          <p:cNvPr id="22" name="그림 21" descr="텍스트, 라인, 도표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1CCFDF6-41DC-75CB-C61F-23C35903A2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6236" y="4532492"/>
            <a:ext cx="6248400" cy="1676400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C9E9D86-02C3-3BBA-D526-8A9AFFD6B9E9}"/>
              </a:ext>
            </a:extLst>
          </p:cNvPr>
          <p:cNvCxnSpPr>
            <a:cxnSpLocks/>
          </p:cNvCxnSpPr>
          <p:nvPr/>
        </p:nvCxnSpPr>
        <p:spPr>
          <a:xfrm>
            <a:off x="3817144" y="1334278"/>
            <a:ext cx="1799885" cy="19950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711B86A-EC12-5623-C155-8E1F9F4B2AF6}"/>
              </a:ext>
            </a:extLst>
          </p:cNvPr>
          <p:cNvCxnSpPr>
            <a:cxnSpLocks/>
          </p:cNvCxnSpPr>
          <p:nvPr/>
        </p:nvCxnSpPr>
        <p:spPr>
          <a:xfrm>
            <a:off x="3817144" y="716756"/>
            <a:ext cx="1799885" cy="3842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9B961CB-499A-28FB-0277-956B4B33DABE}"/>
              </a:ext>
            </a:extLst>
          </p:cNvPr>
          <p:cNvCxnSpPr>
            <a:cxnSpLocks/>
          </p:cNvCxnSpPr>
          <p:nvPr/>
        </p:nvCxnSpPr>
        <p:spPr>
          <a:xfrm flipV="1">
            <a:off x="3817144" y="6141244"/>
            <a:ext cx="1883860" cy="3040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890A531-2BC6-CCF8-11A0-801008492B50}"/>
              </a:ext>
            </a:extLst>
          </p:cNvPr>
          <p:cNvCxnSpPr>
            <a:cxnSpLocks/>
          </p:cNvCxnSpPr>
          <p:nvPr/>
        </p:nvCxnSpPr>
        <p:spPr>
          <a:xfrm flipV="1">
            <a:off x="3817144" y="4532492"/>
            <a:ext cx="1883860" cy="15381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B1A7B9E-2259-78FE-CBC0-597E855AD1C9}"/>
              </a:ext>
            </a:extLst>
          </p:cNvPr>
          <p:cNvSpPr/>
          <p:nvPr/>
        </p:nvSpPr>
        <p:spPr>
          <a:xfrm>
            <a:off x="2547938" y="716756"/>
            <a:ext cx="1269206" cy="617522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7204A-A58D-9791-8A45-6C6E3E69E58B}"/>
              </a:ext>
            </a:extLst>
          </p:cNvPr>
          <p:cNvSpPr/>
          <p:nvPr/>
        </p:nvSpPr>
        <p:spPr>
          <a:xfrm>
            <a:off x="2547938" y="6070600"/>
            <a:ext cx="1269206" cy="37465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8782D1-265F-20E3-ADCE-CC34160A443D}"/>
              </a:ext>
            </a:extLst>
          </p:cNvPr>
          <p:cNvSpPr txBox="1"/>
          <p:nvPr/>
        </p:nvSpPr>
        <p:spPr>
          <a:xfrm>
            <a:off x="7917536" y="3528677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VDD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9F5C9D-B36B-2C68-99BC-1730430B8111}"/>
              </a:ext>
            </a:extLst>
          </p:cNvPr>
          <p:cNvSpPr txBox="1"/>
          <p:nvPr/>
        </p:nvSpPr>
        <p:spPr>
          <a:xfrm>
            <a:off x="7917536" y="60706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VSS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77515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555CD-E09C-E12F-8090-A174C9BB2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0AEB13B-8ABC-2F11-42D0-F9824367B7FF}"/>
              </a:ext>
            </a:extLst>
          </p:cNvPr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0CD5EBB-6EF7-4B49-05A4-3E73B63A8E4C}"/>
              </a:ext>
            </a:extLst>
          </p:cNvPr>
          <p:cNvCxnSpPr>
            <a:cxnSpLocks/>
            <a:endCxn id="7" idx="3"/>
          </p:cNvCxnSpPr>
          <p:nvPr/>
        </p:nvCxnSpPr>
        <p:spPr>
          <a:xfrm>
            <a:off x="1203649" y="464442"/>
            <a:ext cx="106961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 descr="텍스트, 도표, 스크린샷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EA063E-DB74-4130-411F-10810153C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007" y="1152525"/>
            <a:ext cx="5743575" cy="4552950"/>
          </a:xfrm>
          <a:prstGeom prst="rect">
            <a:avLst/>
          </a:prstGeom>
        </p:spPr>
      </p:pic>
      <p:pic>
        <p:nvPicPr>
          <p:cNvPr id="2" name="그림 1" descr="텍스트, 다채로움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6BFC338-6DAA-7A3D-1BB7-4F2F1711A5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4290" y="649108"/>
            <a:ext cx="1474917" cy="5899668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E7024C4-66BA-CCD6-3FFD-68D698ED44B5}"/>
              </a:ext>
            </a:extLst>
          </p:cNvPr>
          <p:cNvCxnSpPr/>
          <p:nvPr/>
        </p:nvCxnSpPr>
        <p:spPr>
          <a:xfrm>
            <a:off x="3788229" y="4208106"/>
            <a:ext cx="1866122" cy="14973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474A720-B4EC-E650-B56B-224BB0F29D92}"/>
              </a:ext>
            </a:extLst>
          </p:cNvPr>
          <p:cNvCxnSpPr>
            <a:cxnSpLocks/>
          </p:cNvCxnSpPr>
          <p:nvPr/>
        </p:nvCxnSpPr>
        <p:spPr>
          <a:xfrm flipV="1">
            <a:off x="3788229" y="1152525"/>
            <a:ext cx="1818821" cy="19825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F3E554B-9F71-9D4A-1113-8B8A01C0F181}"/>
              </a:ext>
            </a:extLst>
          </p:cNvPr>
          <p:cNvSpPr/>
          <p:nvPr/>
        </p:nvSpPr>
        <p:spPr>
          <a:xfrm>
            <a:off x="2565918" y="3135086"/>
            <a:ext cx="1222311" cy="1073020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105B65-8969-190E-F66A-74470BDDAF76}"/>
              </a:ext>
            </a:extLst>
          </p:cNvPr>
          <p:cNvSpPr txBox="1"/>
          <p:nvPr/>
        </p:nvSpPr>
        <p:spPr>
          <a:xfrm>
            <a:off x="7829551" y="5873234"/>
            <a:ext cx="1343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VIN,VOUT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01996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3B1CD-B4C4-7EB0-A8C1-CF9620B71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049344F-BBCE-6B9A-82BC-87681EBC4A16}"/>
              </a:ext>
            </a:extLst>
          </p:cNvPr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646FA68-1934-66EF-B32B-FC13C3E29F19}"/>
              </a:ext>
            </a:extLst>
          </p:cNvPr>
          <p:cNvCxnSpPr>
            <a:cxnSpLocks/>
            <a:endCxn id="7" idx="3"/>
          </p:cNvCxnSpPr>
          <p:nvPr/>
        </p:nvCxnSpPr>
        <p:spPr>
          <a:xfrm>
            <a:off x="1203649" y="464442"/>
            <a:ext cx="106961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 descr="직사각형, 패턴, 다채로움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EFCDF4-6DF9-7E9B-5A8E-611538F07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446" y="833774"/>
            <a:ext cx="6266340" cy="5559784"/>
          </a:xfrm>
          <a:prstGeom prst="rect">
            <a:avLst/>
          </a:prstGeom>
        </p:spPr>
      </p:pic>
      <p:pic>
        <p:nvPicPr>
          <p:cNvPr id="26" name="Google Shape;179;p7">
            <a:extLst>
              <a:ext uri="{FF2B5EF4-FFF2-40B4-BE49-F238E27FC236}">
                <a16:creationId xmlns:a16="http://schemas.microsoft.com/office/drawing/2014/main" id="{676BCCE5-7986-2CCE-8709-5648937362E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136" b="21348"/>
          <a:stretch>
            <a:fillRect/>
          </a:stretch>
        </p:blipFill>
        <p:spPr>
          <a:xfrm>
            <a:off x="80010" y="2830575"/>
            <a:ext cx="5696697" cy="11968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8073664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8725E-BC70-8E9E-563E-1BE1F0679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95631A-3C4B-6DC4-6A4F-94D5C97669D6}"/>
              </a:ext>
            </a:extLst>
          </p:cNvPr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4D40564-D56A-8D6F-D927-16F0A20C1DF1}"/>
              </a:ext>
            </a:extLst>
          </p:cNvPr>
          <p:cNvCxnSpPr>
            <a:cxnSpLocks/>
            <a:endCxn id="7" idx="3"/>
          </p:cNvCxnSpPr>
          <p:nvPr/>
        </p:nvCxnSpPr>
        <p:spPr>
          <a:xfrm>
            <a:off x="1203649" y="464442"/>
            <a:ext cx="106961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 descr="직사각형, 패턴, 다채로움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F83769-6D9F-E4E7-B759-6B3D3DA03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140" y="593104"/>
            <a:ext cx="4497859" cy="3990707"/>
          </a:xfrm>
          <a:prstGeom prst="rect">
            <a:avLst/>
          </a:prstGeom>
        </p:spPr>
      </p:pic>
      <p:pic>
        <p:nvPicPr>
          <p:cNvPr id="3" name="그림 2" descr="라인, 다채로움, 평행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0B033E-6802-E2F3-7D09-BE4BD36F3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062" y="4717158"/>
            <a:ext cx="9667875" cy="1676400"/>
          </a:xfrm>
          <a:prstGeom prst="rect">
            <a:avLst/>
          </a:prstGeom>
        </p:spPr>
      </p:pic>
      <p:pic>
        <p:nvPicPr>
          <p:cNvPr id="5" name="그림 4" descr="라인, 직사각형, 다채로움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B0A831-228B-4930-1DE8-4A5ACA9371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4892" y="1768733"/>
            <a:ext cx="1143000" cy="18288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BB705C9-8658-1EEA-3EC4-9EA23D0C6562}"/>
              </a:ext>
            </a:extLst>
          </p:cNvPr>
          <p:cNvCxnSpPr>
            <a:cxnSpLocks/>
          </p:cNvCxnSpPr>
          <p:nvPr/>
        </p:nvCxnSpPr>
        <p:spPr>
          <a:xfrm>
            <a:off x="4953000" y="895350"/>
            <a:ext cx="2901892" cy="27021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2E8ED8F-B126-F3B4-2C70-6AB2B9007008}"/>
              </a:ext>
            </a:extLst>
          </p:cNvPr>
          <p:cNvCxnSpPr>
            <a:cxnSpLocks/>
          </p:cNvCxnSpPr>
          <p:nvPr/>
        </p:nvCxnSpPr>
        <p:spPr>
          <a:xfrm>
            <a:off x="5169159" y="895350"/>
            <a:ext cx="2685733" cy="8733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E0BE97FA-FF00-57F2-47F6-CF3D39104799}"/>
              </a:ext>
            </a:extLst>
          </p:cNvPr>
          <p:cNvCxnSpPr>
            <a:cxnSpLocks/>
          </p:cNvCxnSpPr>
          <p:nvPr/>
        </p:nvCxnSpPr>
        <p:spPr>
          <a:xfrm flipH="1">
            <a:off x="1474237" y="3040758"/>
            <a:ext cx="354563" cy="16764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42331AC-8F17-A118-5D35-A6C1022A710E}"/>
              </a:ext>
            </a:extLst>
          </p:cNvPr>
          <p:cNvSpPr/>
          <p:nvPr/>
        </p:nvSpPr>
        <p:spPr>
          <a:xfrm>
            <a:off x="1828800" y="2295331"/>
            <a:ext cx="4058816" cy="745427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7595ADB-18DE-3815-D44B-EED4F2259AAE}"/>
              </a:ext>
            </a:extLst>
          </p:cNvPr>
          <p:cNvCxnSpPr/>
          <p:nvPr/>
        </p:nvCxnSpPr>
        <p:spPr>
          <a:xfrm>
            <a:off x="5887616" y="3040758"/>
            <a:ext cx="4786604" cy="16764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0D07275-BE18-1209-4D58-10120410332D}"/>
              </a:ext>
            </a:extLst>
          </p:cNvPr>
          <p:cNvSpPr/>
          <p:nvPr/>
        </p:nvSpPr>
        <p:spPr>
          <a:xfrm>
            <a:off x="4953000" y="649108"/>
            <a:ext cx="216159" cy="246242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EBC68B-B828-354F-5994-772D5B43D73A}"/>
              </a:ext>
            </a:extLst>
          </p:cNvPr>
          <p:cNvSpPr txBox="1"/>
          <p:nvPr/>
        </p:nvSpPr>
        <p:spPr>
          <a:xfrm>
            <a:off x="9201149" y="2394428"/>
            <a:ext cx="12668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Between Inv4, Inv5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In VDD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CD7F20-5EC4-259C-691F-555728AAA227}"/>
              </a:ext>
            </a:extLst>
          </p:cNvPr>
          <p:cNvSpPr txBox="1"/>
          <p:nvPr/>
        </p:nvSpPr>
        <p:spPr>
          <a:xfrm>
            <a:off x="6512024" y="4167524"/>
            <a:ext cx="1641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VIN,VOUT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03235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BB4D1-A8A9-5C1E-C0FD-2862E1110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B420CBF-27EA-062F-F8A1-07DCCFE1B98A}"/>
              </a:ext>
            </a:extLst>
          </p:cNvPr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DRC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001015F-ECF9-DA7B-28EB-884AA5D9F36E}"/>
              </a:ext>
            </a:extLst>
          </p:cNvPr>
          <p:cNvCxnSpPr>
            <a:cxnSpLocks/>
            <a:endCxn id="7" idx="3"/>
          </p:cNvCxnSpPr>
          <p:nvPr/>
        </p:nvCxnSpPr>
        <p:spPr>
          <a:xfrm>
            <a:off x="942392" y="464442"/>
            <a:ext cx="1095739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EC95BD6-5783-959E-47EA-6ACA9E91A779}"/>
              </a:ext>
            </a:extLst>
          </p:cNvPr>
          <p:cNvSpPr txBox="1"/>
          <p:nvPr/>
        </p:nvSpPr>
        <p:spPr>
          <a:xfrm>
            <a:off x="7078083" y="1080689"/>
            <a:ext cx="41273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PP.EN.1 { @ {NP OR PP} enclosure of PO (except DPO) &gt;= 0.15 um</a:t>
            </a: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 ENC POLY IMP &lt; PP_EN_1 ABUT &lt; 90 SINGULAR REGION</a:t>
            </a: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 ((POLY NOT SRAM_EXCLUDE) NOT LOGO) NOT IMP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35BED92-9005-C664-A6EA-CDFA6E51424F}"/>
              </a:ext>
            </a:extLst>
          </p:cNvPr>
          <p:cNvSpPr/>
          <p:nvPr/>
        </p:nvSpPr>
        <p:spPr>
          <a:xfrm>
            <a:off x="292214" y="845820"/>
            <a:ext cx="11607572" cy="5559168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F851490-C97E-74D1-424B-DDA77D3388DB}"/>
              </a:ext>
            </a:extLst>
          </p:cNvPr>
          <p:cNvSpPr/>
          <p:nvPr/>
        </p:nvSpPr>
        <p:spPr>
          <a:xfrm>
            <a:off x="6383766" y="845820"/>
            <a:ext cx="5516020" cy="5559168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 descr="텍스트, 라인, 스크린샷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3BC75E-A064-C5B2-D785-A557FE775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59" y="1872543"/>
            <a:ext cx="5681663" cy="349429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AFAC072-A084-192F-45BE-6BFA4429ECF4}"/>
              </a:ext>
            </a:extLst>
          </p:cNvPr>
          <p:cNvSpPr txBox="1"/>
          <p:nvPr/>
        </p:nvSpPr>
        <p:spPr>
          <a:xfrm>
            <a:off x="2946441" y="4040862"/>
            <a:ext cx="783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FF22"/>
                </a:solidFill>
                <a:highlight>
                  <a:srgbClr val="00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endParaRPr lang="ko-KR" altLang="en-US" dirty="0">
              <a:solidFill>
                <a:srgbClr val="FFFF22"/>
              </a:solidFill>
              <a:highlight>
                <a:srgbClr val="0000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8007C6-1FC0-FF6F-374E-E14E83E82E05}"/>
              </a:ext>
            </a:extLst>
          </p:cNvPr>
          <p:cNvSpPr txBox="1"/>
          <p:nvPr/>
        </p:nvSpPr>
        <p:spPr>
          <a:xfrm>
            <a:off x="696170" y="2090172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FF00"/>
                </a:solidFill>
                <a:highlight>
                  <a:srgbClr val="00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PP</a:t>
            </a:r>
            <a:endParaRPr lang="ko-KR" altLang="en-US" dirty="0">
              <a:solidFill>
                <a:srgbClr val="00FF00"/>
              </a:solidFill>
              <a:highlight>
                <a:srgbClr val="0000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829EAF-7395-3292-A02B-A7431B9BC5B3}"/>
              </a:ext>
            </a:extLst>
          </p:cNvPr>
          <p:cNvSpPr txBox="1"/>
          <p:nvPr/>
        </p:nvSpPr>
        <p:spPr>
          <a:xfrm>
            <a:off x="683239" y="3564374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NP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A8CBFA1-B094-66D4-4287-8B4F5FF2652E}"/>
              </a:ext>
            </a:extLst>
          </p:cNvPr>
          <p:cNvSpPr/>
          <p:nvPr/>
        </p:nvSpPr>
        <p:spPr>
          <a:xfrm>
            <a:off x="6383766" y="3623881"/>
            <a:ext cx="5516020" cy="2781107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PO should be enclosed with NP or PP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8CCF75-B4AB-B56D-DA0D-BAAFFC4795CC}"/>
              </a:ext>
            </a:extLst>
          </p:cNvPr>
          <p:cNvSpPr txBox="1"/>
          <p:nvPr/>
        </p:nvSpPr>
        <p:spPr>
          <a:xfrm>
            <a:off x="7052902" y="4847506"/>
            <a:ext cx="4177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PO should be enclosed with NP or PP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22381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95712-59F6-2F61-8E68-33352C618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 descr="라인, 다채로움, 스크린샷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9A0405-C61A-EA0B-C9C5-133286791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68" y="1041822"/>
            <a:ext cx="5477044" cy="50451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3BC026-5008-2C23-702F-E784EF28D2A1}"/>
              </a:ext>
            </a:extLst>
          </p:cNvPr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DRC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16B79B2-BDD9-90BB-263B-404A537D4660}"/>
              </a:ext>
            </a:extLst>
          </p:cNvPr>
          <p:cNvCxnSpPr>
            <a:cxnSpLocks/>
            <a:endCxn id="7" idx="3"/>
          </p:cNvCxnSpPr>
          <p:nvPr/>
        </p:nvCxnSpPr>
        <p:spPr>
          <a:xfrm>
            <a:off x="942392" y="464442"/>
            <a:ext cx="1095739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4A955E5-24AA-06BF-2FA6-0E2EA8A484BA}"/>
              </a:ext>
            </a:extLst>
          </p:cNvPr>
          <p:cNvSpPr txBox="1"/>
          <p:nvPr/>
        </p:nvSpPr>
        <p:spPr>
          <a:xfrm>
            <a:off x="7078083" y="1634686"/>
            <a:ext cx="41273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altLang="ko-KR" dirty="0">
                <a:latin typeface="Arial" panose="020B0604020202020204" pitchFamily="34" charset="0"/>
                <a:cs typeface="Arial" panose="020B0604020202020204" pitchFamily="34" charset="0"/>
              </a:rPr>
              <a:t>PO.S.4 { @ Field PO space to OD &gt;= 0.05 um </a:t>
            </a:r>
          </a:p>
          <a:p>
            <a:r>
              <a:rPr lang="pl-PL" altLang="ko-KR" dirty="0">
                <a:latin typeface="Arial" panose="020B0604020202020204" pitchFamily="34" charset="0"/>
                <a:cs typeface="Arial" panose="020B0604020202020204" pitchFamily="34" charset="0"/>
              </a:rPr>
              <a:t>  EXT POLY OD &lt; PO_S_4 ABUT &lt; 89.5 SINGULAR REGION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3D7E8DF-F3DC-3D40-DF44-B50AB54CA48E}"/>
              </a:ext>
            </a:extLst>
          </p:cNvPr>
          <p:cNvSpPr/>
          <p:nvPr/>
        </p:nvSpPr>
        <p:spPr>
          <a:xfrm>
            <a:off x="292214" y="845820"/>
            <a:ext cx="11607572" cy="5559168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07539F5-E91C-15AB-DDED-661DBFCDC797}"/>
              </a:ext>
            </a:extLst>
          </p:cNvPr>
          <p:cNvSpPr/>
          <p:nvPr/>
        </p:nvSpPr>
        <p:spPr>
          <a:xfrm>
            <a:off x="6383766" y="845820"/>
            <a:ext cx="5516020" cy="5559168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8DB258-78BA-023B-D94D-64D2E14934B6}"/>
              </a:ext>
            </a:extLst>
          </p:cNvPr>
          <p:cNvSpPr txBox="1"/>
          <p:nvPr/>
        </p:nvSpPr>
        <p:spPr>
          <a:xfrm>
            <a:off x="3717822" y="361968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FF25"/>
                </a:solidFill>
                <a:highlight>
                  <a:srgbClr val="00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PO</a:t>
            </a:r>
            <a:endParaRPr lang="ko-KR" altLang="en-US" dirty="0">
              <a:solidFill>
                <a:srgbClr val="FFFF25"/>
              </a:solidFill>
              <a:highlight>
                <a:srgbClr val="0000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9434F2-0BB5-3668-0C81-3B38D898AF3A}"/>
              </a:ext>
            </a:extLst>
          </p:cNvPr>
          <p:cNvSpPr txBox="1"/>
          <p:nvPr/>
        </p:nvSpPr>
        <p:spPr>
          <a:xfrm>
            <a:off x="3717822" y="4616969"/>
            <a:ext cx="562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2AFFFF"/>
                </a:solidFill>
                <a:highlight>
                  <a:srgbClr val="00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OD</a:t>
            </a:r>
            <a:endParaRPr lang="ko-KR" altLang="en-US" dirty="0">
              <a:solidFill>
                <a:srgbClr val="2AFFFF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2C2F4A2-B990-5C9E-9DDB-A455CE19E1EC}"/>
              </a:ext>
            </a:extLst>
          </p:cNvPr>
          <p:cNvSpPr/>
          <p:nvPr/>
        </p:nvSpPr>
        <p:spPr>
          <a:xfrm>
            <a:off x="6383766" y="3623881"/>
            <a:ext cx="5516020" cy="2781107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be enclosed with NP or PP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D2422D-9FC6-3729-29F0-6B4D6D257FAF}"/>
              </a:ext>
            </a:extLst>
          </p:cNvPr>
          <p:cNvSpPr txBox="1"/>
          <p:nvPr/>
        </p:nvSpPr>
        <p:spPr>
          <a:xfrm>
            <a:off x="7478500" y="4685553"/>
            <a:ext cx="33265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Field PO should be at 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 distance of 0.05 um from OD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119601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F3A93-74E6-B8B3-DEA1-13A9060EC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 descr="라인, 다채로움, 스크린샷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ED0834-0A27-B88D-BE75-4D0EE23EA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68" y="1041822"/>
            <a:ext cx="5477044" cy="50451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C2F594-697B-830E-2C30-4731AE09C10E}"/>
              </a:ext>
            </a:extLst>
          </p:cNvPr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DRC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AE4650A-BBF6-C666-C8F8-356587362BA3}"/>
              </a:ext>
            </a:extLst>
          </p:cNvPr>
          <p:cNvCxnSpPr>
            <a:cxnSpLocks/>
            <a:endCxn id="7" idx="3"/>
          </p:cNvCxnSpPr>
          <p:nvPr/>
        </p:nvCxnSpPr>
        <p:spPr>
          <a:xfrm>
            <a:off x="942392" y="464442"/>
            <a:ext cx="1095739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C07C0EB4-954B-CD6D-EF7A-12708E67EC2A}"/>
              </a:ext>
            </a:extLst>
          </p:cNvPr>
          <p:cNvSpPr/>
          <p:nvPr/>
        </p:nvSpPr>
        <p:spPr>
          <a:xfrm>
            <a:off x="292214" y="845820"/>
            <a:ext cx="11607572" cy="5559168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883F4D-BFA9-0B00-3072-A28A3B025A75}"/>
              </a:ext>
            </a:extLst>
          </p:cNvPr>
          <p:cNvSpPr/>
          <p:nvPr/>
        </p:nvSpPr>
        <p:spPr>
          <a:xfrm>
            <a:off x="6383766" y="845820"/>
            <a:ext cx="5516020" cy="5559168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FCB417-6461-99BD-4ABD-B3DEB90B0FF4}"/>
              </a:ext>
            </a:extLst>
          </p:cNvPr>
          <p:cNvSpPr txBox="1"/>
          <p:nvPr/>
        </p:nvSpPr>
        <p:spPr>
          <a:xfrm>
            <a:off x="2827596" y="4986301"/>
            <a:ext cx="562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FF2C80"/>
                </a:solidFill>
                <a:highlight>
                  <a:srgbClr val="00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</a:t>
            </a:r>
            <a:endParaRPr lang="ko-KR" altLang="en-US" dirty="0">
              <a:solidFill>
                <a:srgbClr val="FF2C8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2F2F12-6D1E-A91C-1545-1690E69BE623}"/>
              </a:ext>
            </a:extLst>
          </p:cNvPr>
          <p:cNvSpPr txBox="1"/>
          <p:nvPr/>
        </p:nvSpPr>
        <p:spPr>
          <a:xfrm>
            <a:off x="7078083" y="1773186"/>
            <a:ext cx="41273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CO.S.1 { @ Spacing &gt;= 0.11 um 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  EXT CO &lt; CO_S_1 ABUT &lt; 90 SINGULAR REGION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812A06-2DDF-6AE0-B5CF-4264E6204541}"/>
              </a:ext>
            </a:extLst>
          </p:cNvPr>
          <p:cNvSpPr txBox="1"/>
          <p:nvPr/>
        </p:nvSpPr>
        <p:spPr>
          <a:xfrm>
            <a:off x="2775063" y="2644730"/>
            <a:ext cx="562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FF2C80"/>
                </a:solidFill>
                <a:highlight>
                  <a:srgbClr val="00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</a:t>
            </a:r>
            <a:endParaRPr lang="ko-KR" altLang="en-US" dirty="0">
              <a:solidFill>
                <a:srgbClr val="FF2C8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60DB96B-DA72-DBD4-5EB8-3476C7147CDB}"/>
              </a:ext>
            </a:extLst>
          </p:cNvPr>
          <p:cNvSpPr/>
          <p:nvPr/>
        </p:nvSpPr>
        <p:spPr>
          <a:xfrm>
            <a:off x="6383766" y="3623881"/>
            <a:ext cx="5516020" cy="2781107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NP or PP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CB6328-F7C8-FF92-29D9-710D12786072}"/>
              </a:ext>
            </a:extLst>
          </p:cNvPr>
          <p:cNvSpPr txBox="1"/>
          <p:nvPr/>
        </p:nvSpPr>
        <p:spPr>
          <a:xfrm>
            <a:off x="7461566" y="4685553"/>
            <a:ext cx="3360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ko-K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 should be at a distance of 0.11 um from another CO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74752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C24D1-2F26-B4C5-1B7A-E089830E3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라인, 다채로움, 도표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4F5A70F-5910-4BEE-AF84-2D39C24B5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9434" y="1078885"/>
            <a:ext cx="1619250" cy="51661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E7D82C-A7A7-787A-F8A9-562314565753}"/>
              </a:ext>
            </a:extLst>
          </p:cNvPr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DRC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1B32CE6-4D4F-5922-7631-5136392ED76F}"/>
              </a:ext>
            </a:extLst>
          </p:cNvPr>
          <p:cNvCxnSpPr>
            <a:cxnSpLocks/>
            <a:endCxn id="7" idx="3"/>
          </p:cNvCxnSpPr>
          <p:nvPr/>
        </p:nvCxnSpPr>
        <p:spPr>
          <a:xfrm>
            <a:off x="942392" y="464442"/>
            <a:ext cx="1095739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7425E914-6357-D95E-8BDE-882885725027}"/>
              </a:ext>
            </a:extLst>
          </p:cNvPr>
          <p:cNvSpPr/>
          <p:nvPr/>
        </p:nvSpPr>
        <p:spPr>
          <a:xfrm>
            <a:off x="292214" y="845820"/>
            <a:ext cx="11607572" cy="5559168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4BD2124-DBA3-D98D-FDC8-AD37A6B7CE33}"/>
              </a:ext>
            </a:extLst>
          </p:cNvPr>
          <p:cNvSpPr/>
          <p:nvPr/>
        </p:nvSpPr>
        <p:spPr>
          <a:xfrm>
            <a:off x="6383766" y="845820"/>
            <a:ext cx="5516020" cy="5559168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A7268F-D642-BA39-91DB-F1EC8B69079B}"/>
              </a:ext>
            </a:extLst>
          </p:cNvPr>
          <p:cNvSpPr txBox="1"/>
          <p:nvPr/>
        </p:nvSpPr>
        <p:spPr>
          <a:xfrm>
            <a:off x="4170290" y="3477308"/>
            <a:ext cx="8854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B0C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 x3</a:t>
            </a:r>
            <a:endParaRPr lang="ko-KR" altLang="en-US" dirty="0">
              <a:solidFill>
                <a:srgbClr val="0B0CFF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4E9450-D296-BB1C-F13F-6DF7A3AFB596}"/>
              </a:ext>
            </a:extLst>
          </p:cNvPr>
          <p:cNvSpPr txBox="1"/>
          <p:nvPr/>
        </p:nvSpPr>
        <p:spPr>
          <a:xfrm>
            <a:off x="7078083" y="1634686"/>
            <a:ext cx="41273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VIA1.R.2__VIA1.R.3 { @ When M1 or M2 width &gt; 0.3 um, more than one VIA1 is required.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~~~~~~~~~~~~~~~~~~~~~~~~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C642470-6832-BD31-E18E-2552BD0B4721}"/>
              </a:ext>
            </a:extLst>
          </p:cNvPr>
          <p:cNvSpPr/>
          <p:nvPr/>
        </p:nvSpPr>
        <p:spPr>
          <a:xfrm>
            <a:off x="6383766" y="3623881"/>
            <a:ext cx="5516020" cy="2781107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NP or PP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E0F664-B1E6-946E-F491-9ADEE66E9314}"/>
              </a:ext>
            </a:extLst>
          </p:cNvPr>
          <p:cNvSpPr txBox="1"/>
          <p:nvPr/>
        </p:nvSpPr>
        <p:spPr>
          <a:xfrm>
            <a:off x="6693243" y="4691268"/>
            <a:ext cx="48970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When M1 or M2 width is larger than 0.3um, 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more than one VIA1 is required.</a:t>
            </a:r>
          </a:p>
        </p:txBody>
      </p:sp>
    </p:spTree>
    <p:extLst>
      <p:ext uri="{BB962C8B-B14F-4D97-AF65-F5344CB8AC3E}">
        <p14:creationId xmlns:p14="http://schemas.microsoft.com/office/powerpoint/2010/main" val="1655853771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58577-C4BD-930B-D24D-AA14BB1B2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9F303A8-D717-D8EB-D16C-6E8FE44F135E}"/>
              </a:ext>
            </a:extLst>
          </p:cNvPr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LVS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F241EBC-B93C-2BE4-6FA6-A45859AA3060}"/>
              </a:ext>
            </a:extLst>
          </p:cNvPr>
          <p:cNvCxnSpPr>
            <a:cxnSpLocks/>
            <a:endCxn id="7" idx="3"/>
          </p:cNvCxnSpPr>
          <p:nvPr/>
        </p:nvCxnSpPr>
        <p:spPr>
          <a:xfrm flipV="1">
            <a:off x="867747" y="464442"/>
            <a:ext cx="11032039" cy="4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9A2FC1-C426-C497-A264-F0E9ED865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980" y="979637"/>
            <a:ext cx="5516020" cy="52572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8EEC81-9819-1195-B863-50A82681640C}"/>
              </a:ext>
            </a:extLst>
          </p:cNvPr>
          <p:cNvSpPr txBox="1"/>
          <p:nvPr/>
        </p:nvSpPr>
        <p:spPr>
          <a:xfrm>
            <a:off x="7078083" y="3423593"/>
            <a:ext cx="4127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Label needs to write with METAL PIN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347512F-C8F8-3959-BE70-D83C3AF6F019}"/>
              </a:ext>
            </a:extLst>
          </p:cNvPr>
          <p:cNvSpPr/>
          <p:nvPr/>
        </p:nvSpPr>
        <p:spPr>
          <a:xfrm>
            <a:off x="292214" y="834390"/>
            <a:ext cx="11607572" cy="5559168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9322D62-0EC4-0547-0580-E61C654542FB}"/>
              </a:ext>
            </a:extLst>
          </p:cNvPr>
          <p:cNvSpPr/>
          <p:nvPr/>
        </p:nvSpPr>
        <p:spPr>
          <a:xfrm>
            <a:off x="6383766" y="822960"/>
            <a:ext cx="5516020" cy="5570598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8809765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C4975-370A-DCC7-F322-6A3E5BDA2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D65043E-BC0F-42AF-ADA3-40506FF60811}"/>
              </a:ext>
            </a:extLst>
          </p:cNvPr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PEX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A2767CE-8BD4-DD39-7F7E-F4F837E0CA37}"/>
              </a:ext>
            </a:extLst>
          </p:cNvPr>
          <p:cNvCxnSpPr>
            <a:cxnSpLocks/>
            <a:endCxn id="7" idx="3"/>
          </p:cNvCxnSpPr>
          <p:nvPr/>
        </p:nvCxnSpPr>
        <p:spPr>
          <a:xfrm>
            <a:off x="952500" y="464442"/>
            <a:ext cx="109472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림 18" descr="텍스트, 스크린샷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8CAF47-DDB3-BEA1-2AD4-DE27D5177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" y="888426"/>
            <a:ext cx="8468210" cy="544625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3AAC41D-1133-7AD2-3F7E-8210C89F12D4}"/>
              </a:ext>
            </a:extLst>
          </p:cNvPr>
          <p:cNvSpPr txBox="1"/>
          <p:nvPr/>
        </p:nvSpPr>
        <p:spPr>
          <a:xfrm>
            <a:off x="7462083" y="4245346"/>
            <a:ext cx="1217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80E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-102.6056</a:t>
            </a:r>
          </a:p>
          <a:p>
            <a:r>
              <a:rPr lang="en-US" altLang="ko-KR" dirty="0">
                <a:solidFill>
                  <a:srgbClr val="7EDE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-103.4489</a:t>
            </a:r>
          </a:p>
          <a:p>
            <a:r>
              <a:rPr lang="en-US" altLang="ko-KR" dirty="0">
                <a:solidFill>
                  <a:srgbClr val="E00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-104.5833</a:t>
            </a:r>
            <a:endParaRPr lang="ko-KR" altLang="en-US" dirty="0">
              <a:solidFill>
                <a:srgbClr val="E000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BE6F4B-9771-D9CE-4EA3-E21385051E94}"/>
              </a:ext>
            </a:extLst>
          </p:cNvPr>
          <p:cNvSpPr txBox="1"/>
          <p:nvPr/>
        </p:nvSpPr>
        <p:spPr>
          <a:xfrm>
            <a:off x="6426143" y="4959577"/>
            <a:ext cx="1219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80E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-74.07831</a:t>
            </a:r>
          </a:p>
          <a:p>
            <a:r>
              <a:rPr lang="en-US" altLang="ko-KR" dirty="0">
                <a:solidFill>
                  <a:srgbClr val="7EDE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-75.32476</a:t>
            </a:r>
          </a:p>
          <a:p>
            <a:r>
              <a:rPr lang="en-US" altLang="ko-KR" dirty="0">
                <a:solidFill>
                  <a:srgbClr val="E00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-76.94579</a:t>
            </a:r>
            <a:endParaRPr lang="ko-KR" altLang="en-US" dirty="0">
              <a:solidFill>
                <a:srgbClr val="E000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C39FD4-3344-599D-E787-6406B6ED4EE6}"/>
              </a:ext>
            </a:extLst>
          </p:cNvPr>
          <p:cNvSpPr txBox="1"/>
          <p:nvPr/>
        </p:nvSpPr>
        <p:spPr>
          <a:xfrm>
            <a:off x="5366385" y="3222337"/>
            <a:ext cx="1219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80E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-43.99349</a:t>
            </a:r>
          </a:p>
          <a:p>
            <a:r>
              <a:rPr lang="en-US" altLang="ko-KR" dirty="0">
                <a:solidFill>
                  <a:srgbClr val="7EDE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-45.38933</a:t>
            </a:r>
          </a:p>
          <a:p>
            <a:r>
              <a:rPr lang="en-US" altLang="ko-KR" dirty="0">
                <a:solidFill>
                  <a:srgbClr val="E00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-47.16541</a:t>
            </a:r>
            <a:endParaRPr lang="ko-KR" altLang="en-US" dirty="0">
              <a:solidFill>
                <a:srgbClr val="E000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0FD917-6D06-8547-2AAD-91897FF39823}"/>
              </a:ext>
            </a:extLst>
          </p:cNvPr>
          <p:cNvSpPr txBox="1"/>
          <p:nvPr/>
        </p:nvSpPr>
        <p:spPr>
          <a:xfrm>
            <a:off x="4322578" y="4090957"/>
            <a:ext cx="1219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80E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-13.54459</a:t>
            </a:r>
          </a:p>
          <a:p>
            <a:r>
              <a:rPr lang="en-US" altLang="ko-KR" dirty="0">
                <a:solidFill>
                  <a:srgbClr val="7EDE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-15.03021</a:t>
            </a:r>
          </a:p>
          <a:p>
            <a:r>
              <a:rPr lang="en-US" altLang="ko-KR" dirty="0">
                <a:solidFill>
                  <a:srgbClr val="E00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-16.88529</a:t>
            </a:r>
            <a:endParaRPr lang="ko-KR" altLang="en-US" dirty="0">
              <a:solidFill>
                <a:srgbClr val="E000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DAEE05-D994-4625-7E94-8F2B726ABF00}"/>
              </a:ext>
            </a:extLst>
          </p:cNvPr>
          <p:cNvSpPr txBox="1"/>
          <p:nvPr/>
        </p:nvSpPr>
        <p:spPr>
          <a:xfrm>
            <a:off x="3280410" y="2243436"/>
            <a:ext cx="1219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80E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17.08021</a:t>
            </a:r>
          </a:p>
          <a:p>
            <a:r>
              <a:rPr lang="en-US" altLang="ko-KR" dirty="0">
                <a:solidFill>
                  <a:srgbClr val="7EDE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15.52751</a:t>
            </a:r>
          </a:p>
          <a:p>
            <a:r>
              <a:rPr lang="en-US" altLang="ko-KR" dirty="0">
                <a:solidFill>
                  <a:srgbClr val="E00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13.614</a:t>
            </a:r>
            <a:endParaRPr lang="ko-KR" altLang="en-US" dirty="0">
              <a:solidFill>
                <a:srgbClr val="E000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25D1ED3B-E8D2-0CFE-77EE-15459F70A6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135175"/>
              </p:ext>
            </p:extLst>
          </p:nvPr>
        </p:nvGraphicFramePr>
        <p:xfrm>
          <a:off x="9409015" y="1479025"/>
          <a:ext cx="2231770" cy="4328160"/>
        </p:xfrm>
        <a:graphic>
          <a:graphicData uri="http://schemas.openxmlformats.org/drawingml/2006/table">
            <a:tbl>
              <a:tblPr/>
              <a:tblGrid>
                <a:gridCol w="1220514">
                  <a:extLst>
                    <a:ext uri="{9D8B030D-6E8A-4147-A177-3AD203B41FA5}">
                      <a16:colId xmlns:a16="http://schemas.microsoft.com/office/drawing/2014/main" val="2584172532"/>
                    </a:ext>
                  </a:extLst>
                </a:gridCol>
                <a:gridCol w="1011256">
                  <a:extLst>
                    <a:ext uri="{9D8B030D-6E8A-4147-A177-3AD203B41FA5}">
                      <a16:colId xmlns:a16="http://schemas.microsoft.com/office/drawing/2014/main" val="2594368074"/>
                    </a:ext>
                  </a:extLst>
                </a:gridCol>
              </a:tblGrid>
              <a:tr h="27270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Hz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dB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31023"/>
                  </a:ext>
                </a:extLst>
              </a:tr>
              <a:tr h="4480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1k-10k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0080E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-30.62</a:t>
                      </a:r>
                    </a:p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7EDE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-30.56</a:t>
                      </a:r>
                    </a:p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E0008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-30.50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930857"/>
                  </a:ext>
                </a:extLst>
              </a:tr>
              <a:tr h="4480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10k-100k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0080E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-30.45</a:t>
                      </a:r>
                    </a:p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7EDE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-30.36</a:t>
                      </a:r>
                    </a:p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E0008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-30.28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89466"/>
                  </a:ext>
                </a:extLst>
              </a:tr>
              <a:tr h="4480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100k-1M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0080E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-30.08</a:t>
                      </a:r>
                    </a:p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7EDE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-29.93</a:t>
                      </a:r>
                    </a:p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E0008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-29.78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9502737"/>
                  </a:ext>
                </a:extLst>
              </a:tr>
              <a:tr h="4480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1M-10M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0080E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-28.53</a:t>
                      </a:r>
                    </a:p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7EDE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-28.12</a:t>
                      </a:r>
                    </a:p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E0008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-27.64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0545721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CD85152B-A3A2-DB64-7E63-7A74C10C13F5}"/>
              </a:ext>
            </a:extLst>
          </p:cNvPr>
          <p:cNvSpPr/>
          <p:nvPr/>
        </p:nvSpPr>
        <p:spPr>
          <a:xfrm>
            <a:off x="292214" y="833774"/>
            <a:ext cx="11607572" cy="5559781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5B477D5-E346-05C5-8079-E60C6F5846BF}"/>
              </a:ext>
            </a:extLst>
          </p:cNvPr>
          <p:cNvSpPr/>
          <p:nvPr/>
        </p:nvSpPr>
        <p:spPr>
          <a:xfrm>
            <a:off x="9109710" y="833774"/>
            <a:ext cx="2790076" cy="5559781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218099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E5AC3-1AA5-0706-94EA-2D7057EDB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E9F3952-AB54-0776-7DAC-18CE258DF376}"/>
              </a:ext>
            </a:extLst>
          </p:cNvPr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PEX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CA7F283-48B4-A149-5395-496EF7122B02}"/>
              </a:ext>
            </a:extLst>
          </p:cNvPr>
          <p:cNvCxnSpPr>
            <a:cxnSpLocks/>
            <a:endCxn id="7" idx="3"/>
          </p:cNvCxnSpPr>
          <p:nvPr/>
        </p:nvCxnSpPr>
        <p:spPr>
          <a:xfrm>
            <a:off x="952500" y="464442"/>
            <a:ext cx="109472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 descr="텍스트, 스크린샷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591CF5-D100-D9D2-2F5B-B2A5530F3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216" y="898732"/>
            <a:ext cx="8499183" cy="54601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2CFFAB-341D-17FD-DBA1-E97E9727F7D7}"/>
              </a:ext>
            </a:extLst>
          </p:cNvPr>
          <p:cNvSpPr txBox="1"/>
          <p:nvPr/>
        </p:nvSpPr>
        <p:spPr>
          <a:xfrm>
            <a:off x="5695890" y="6402149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DSPF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64C2DF-6DAC-0DE6-21AE-50F06CBD334C}"/>
              </a:ext>
            </a:extLst>
          </p:cNvPr>
          <p:cNvSpPr txBox="1"/>
          <p:nvPr/>
        </p:nvSpPr>
        <p:spPr>
          <a:xfrm>
            <a:off x="7445225" y="3991198"/>
            <a:ext cx="14001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80E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-109.0594</a:t>
            </a:r>
          </a:p>
          <a:p>
            <a:r>
              <a:rPr lang="en-US" altLang="ko-KR" dirty="0">
                <a:solidFill>
                  <a:srgbClr val="7EDE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-109.0375</a:t>
            </a:r>
          </a:p>
          <a:p>
            <a:r>
              <a:rPr lang="en-US" altLang="ko-KR" dirty="0">
                <a:solidFill>
                  <a:srgbClr val="E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-109.3938</a:t>
            </a:r>
          </a:p>
          <a:p>
            <a:r>
              <a:rPr lang="en-US" altLang="ko-KR" dirty="0">
                <a:solidFill>
                  <a:srgbClr val="E00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-109.3507</a:t>
            </a:r>
            <a:endParaRPr lang="ko-KR" altLang="en-US" dirty="0">
              <a:solidFill>
                <a:srgbClr val="E000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872071-FEF5-E05E-B0F4-1FF6428AF6A1}"/>
              </a:ext>
            </a:extLst>
          </p:cNvPr>
          <p:cNvSpPr txBox="1"/>
          <p:nvPr/>
        </p:nvSpPr>
        <p:spPr>
          <a:xfrm>
            <a:off x="6386904" y="3142609"/>
            <a:ext cx="12170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80E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-82.42974</a:t>
            </a:r>
          </a:p>
          <a:p>
            <a:r>
              <a:rPr lang="en-US" altLang="ko-KR" dirty="0">
                <a:solidFill>
                  <a:srgbClr val="7EDE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-82.70152</a:t>
            </a:r>
          </a:p>
          <a:p>
            <a:r>
              <a:rPr lang="en-US" altLang="ko-KR" dirty="0">
                <a:solidFill>
                  <a:srgbClr val="E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-83.31742</a:t>
            </a:r>
          </a:p>
          <a:p>
            <a:r>
              <a:rPr lang="en-US" altLang="ko-KR" dirty="0">
                <a:solidFill>
                  <a:srgbClr val="E00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-83.37125</a:t>
            </a:r>
            <a:endParaRPr lang="ko-KR" altLang="en-US" dirty="0">
              <a:solidFill>
                <a:srgbClr val="E000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06B4FC-AFB5-AE91-C806-07656D2BA5CE}"/>
              </a:ext>
            </a:extLst>
          </p:cNvPr>
          <p:cNvSpPr txBox="1"/>
          <p:nvPr/>
        </p:nvSpPr>
        <p:spPr>
          <a:xfrm>
            <a:off x="5328583" y="4587289"/>
            <a:ext cx="12170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80E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-52.73113</a:t>
            </a:r>
          </a:p>
          <a:p>
            <a:r>
              <a:rPr lang="en-US" altLang="ko-KR" dirty="0">
                <a:solidFill>
                  <a:srgbClr val="7EDE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-53.1601</a:t>
            </a:r>
          </a:p>
          <a:p>
            <a:r>
              <a:rPr lang="en-US" altLang="ko-KR" dirty="0">
                <a:solidFill>
                  <a:srgbClr val="E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-53.90561</a:t>
            </a:r>
          </a:p>
          <a:p>
            <a:r>
              <a:rPr lang="en-US" altLang="ko-KR" dirty="0">
                <a:solidFill>
                  <a:srgbClr val="E00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-53.98731</a:t>
            </a:r>
            <a:endParaRPr lang="ko-KR" altLang="en-US" dirty="0">
              <a:solidFill>
                <a:srgbClr val="E000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B8414B-9196-678A-8AD6-758F9F23266F}"/>
              </a:ext>
            </a:extLst>
          </p:cNvPr>
          <p:cNvSpPr txBox="1"/>
          <p:nvPr/>
        </p:nvSpPr>
        <p:spPr>
          <a:xfrm>
            <a:off x="4284066" y="2468732"/>
            <a:ext cx="12170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80E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-22.3545</a:t>
            </a:r>
          </a:p>
          <a:p>
            <a:r>
              <a:rPr lang="en-US" altLang="ko-KR" dirty="0">
                <a:solidFill>
                  <a:srgbClr val="7EDE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-22.87161</a:t>
            </a:r>
          </a:p>
          <a:p>
            <a:r>
              <a:rPr lang="en-US" altLang="ko-KR" dirty="0">
                <a:solidFill>
                  <a:srgbClr val="E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-23.68301</a:t>
            </a:r>
          </a:p>
          <a:p>
            <a:r>
              <a:rPr lang="en-US" altLang="ko-KR" dirty="0">
                <a:solidFill>
                  <a:srgbClr val="E00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-23.76687</a:t>
            </a:r>
            <a:endParaRPr lang="ko-KR" altLang="en-US" dirty="0">
              <a:solidFill>
                <a:srgbClr val="E000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AC2A3C-B749-388A-F234-9A1C07176DAF}"/>
              </a:ext>
            </a:extLst>
          </p:cNvPr>
          <p:cNvSpPr txBox="1"/>
          <p:nvPr/>
        </p:nvSpPr>
        <p:spPr>
          <a:xfrm>
            <a:off x="3211941" y="3499362"/>
            <a:ext cx="1217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80E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8.213013</a:t>
            </a:r>
          </a:p>
          <a:p>
            <a:r>
              <a:rPr lang="en-US" altLang="ko-KR" dirty="0">
                <a:solidFill>
                  <a:srgbClr val="7EDE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7.63151</a:t>
            </a:r>
          </a:p>
          <a:p>
            <a:r>
              <a:rPr lang="en-US" altLang="ko-KR" dirty="0">
                <a:solidFill>
                  <a:srgbClr val="E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6.772193</a:t>
            </a:r>
          </a:p>
          <a:p>
            <a:r>
              <a:rPr lang="en-US" altLang="ko-KR" dirty="0">
                <a:solidFill>
                  <a:srgbClr val="E00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6.689063</a:t>
            </a:r>
            <a:endParaRPr lang="ko-KR" altLang="en-US" dirty="0">
              <a:solidFill>
                <a:srgbClr val="E000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B86D4D6C-B9C1-4AF6-960E-09536C69A1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735696"/>
              </p:ext>
            </p:extLst>
          </p:nvPr>
        </p:nvGraphicFramePr>
        <p:xfrm>
          <a:off x="9401682" y="933425"/>
          <a:ext cx="2231770" cy="5425440"/>
        </p:xfrm>
        <a:graphic>
          <a:graphicData uri="http://schemas.openxmlformats.org/drawingml/2006/table">
            <a:tbl>
              <a:tblPr/>
              <a:tblGrid>
                <a:gridCol w="1220514">
                  <a:extLst>
                    <a:ext uri="{9D8B030D-6E8A-4147-A177-3AD203B41FA5}">
                      <a16:colId xmlns:a16="http://schemas.microsoft.com/office/drawing/2014/main" val="2584172532"/>
                    </a:ext>
                  </a:extLst>
                </a:gridCol>
                <a:gridCol w="1011256">
                  <a:extLst>
                    <a:ext uri="{9D8B030D-6E8A-4147-A177-3AD203B41FA5}">
                      <a16:colId xmlns:a16="http://schemas.microsoft.com/office/drawing/2014/main" val="2594368074"/>
                    </a:ext>
                  </a:extLst>
                </a:gridCol>
              </a:tblGrid>
              <a:tr h="27270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Hz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dB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31023"/>
                  </a:ext>
                </a:extLst>
              </a:tr>
              <a:tr h="4480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1k-10k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0080E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-30.57</a:t>
                      </a:r>
                    </a:p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7EDE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-30.5</a:t>
                      </a:r>
                    </a:p>
                    <a:p>
                      <a:pPr rtl="0">
                        <a:buNone/>
                      </a:pPr>
                      <a:r>
                        <a:rPr lang="en-US" altLang="ko-KR" dirty="0">
                          <a:solidFill>
                            <a:srgbClr val="E08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-30.45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rgbClr val="E0008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-30.45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930857"/>
                  </a:ext>
                </a:extLst>
              </a:tr>
              <a:tr h="4480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10k-100k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0080E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-30.38</a:t>
                      </a:r>
                    </a:p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7EDE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-30.29</a:t>
                      </a:r>
                    </a:p>
                    <a:p>
                      <a:pPr rtl="0">
                        <a:buNone/>
                      </a:pPr>
                      <a:r>
                        <a:rPr lang="en-US" altLang="ko-KR" dirty="0">
                          <a:solidFill>
                            <a:srgbClr val="E08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-30.23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rgbClr val="E0008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-30.22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89466"/>
                  </a:ext>
                </a:extLst>
              </a:tr>
              <a:tr h="4480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100k-1M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0080E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-29.7</a:t>
                      </a:r>
                    </a:p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7EDE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-29.54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rgbClr val="E08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-29.41</a:t>
                      </a:r>
                      <a:endParaRPr lang="en-US" dirty="0">
                        <a:solidFill>
                          <a:srgbClr val="7EDE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E0008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-29.38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9502737"/>
                  </a:ext>
                </a:extLst>
              </a:tr>
              <a:tr h="4480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1M-10M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0080E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-26.63</a:t>
                      </a:r>
                    </a:p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7EDE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-26.34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rgbClr val="E08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-26.08</a:t>
                      </a:r>
                      <a:endParaRPr lang="en-US" dirty="0">
                        <a:solidFill>
                          <a:srgbClr val="7EDE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E0008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-25.98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0545721"/>
                  </a:ext>
                </a:extLst>
              </a:tr>
            </a:tbl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E296DF05-B799-1D73-2B01-AA25D7B1BB9B}"/>
              </a:ext>
            </a:extLst>
          </p:cNvPr>
          <p:cNvSpPr/>
          <p:nvPr/>
        </p:nvSpPr>
        <p:spPr>
          <a:xfrm>
            <a:off x="292214" y="833774"/>
            <a:ext cx="11607572" cy="5559781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EE4C75C-3610-3103-D2F6-2D965EC525F2}"/>
              </a:ext>
            </a:extLst>
          </p:cNvPr>
          <p:cNvSpPr/>
          <p:nvPr/>
        </p:nvSpPr>
        <p:spPr>
          <a:xfrm>
            <a:off x="9109710" y="833774"/>
            <a:ext cx="2790076" cy="5559781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1479022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F621B-B319-B574-FA11-2CF5D0E9A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EE45495-82D7-8F92-A123-2FA47AA53109}"/>
              </a:ext>
            </a:extLst>
          </p:cNvPr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PEX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614E8E2-81D9-083C-266E-C7F8E1943522}"/>
              </a:ext>
            </a:extLst>
          </p:cNvPr>
          <p:cNvCxnSpPr>
            <a:cxnSpLocks/>
            <a:endCxn id="7" idx="3"/>
          </p:cNvCxnSpPr>
          <p:nvPr/>
        </p:nvCxnSpPr>
        <p:spPr>
          <a:xfrm>
            <a:off x="952500" y="464442"/>
            <a:ext cx="109472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B1BC074-59BC-10E6-93F4-B760A2A39780}"/>
              </a:ext>
            </a:extLst>
          </p:cNvPr>
          <p:cNvSpPr txBox="1"/>
          <p:nvPr/>
        </p:nvSpPr>
        <p:spPr>
          <a:xfrm>
            <a:off x="5413794" y="6406409"/>
            <a:ext cx="1364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Calibreview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그림 15" descr="텍스트, 스크린샷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E6B87B-B37D-AC83-9ABB-203D22EB7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890924"/>
            <a:ext cx="8433920" cy="54242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7816F8-2786-6E05-6A00-68BB47FA10FC}"/>
              </a:ext>
            </a:extLst>
          </p:cNvPr>
          <p:cNvSpPr txBox="1"/>
          <p:nvPr/>
        </p:nvSpPr>
        <p:spPr>
          <a:xfrm>
            <a:off x="7419975" y="4188292"/>
            <a:ext cx="12170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80E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-108.9535</a:t>
            </a:r>
          </a:p>
          <a:p>
            <a:r>
              <a:rPr lang="en-US" altLang="ko-KR" dirty="0">
                <a:solidFill>
                  <a:srgbClr val="7EDE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-108.9559</a:t>
            </a:r>
          </a:p>
          <a:p>
            <a:r>
              <a:rPr lang="en-US" altLang="ko-KR" dirty="0">
                <a:solidFill>
                  <a:srgbClr val="E00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-109.3021</a:t>
            </a:r>
            <a:endParaRPr lang="ko-KR" altLang="en-US" dirty="0">
              <a:solidFill>
                <a:srgbClr val="E000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2F2801-DA76-820E-5F77-DEF6133B8414}"/>
              </a:ext>
            </a:extLst>
          </p:cNvPr>
          <p:cNvSpPr txBox="1"/>
          <p:nvPr/>
        </p:nvSpPr>
        <p:spPr>
          <a:xfrm>
            <a:off x="6426143" y="4978837"/>
            <a:ext cx="12170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80E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-82.3858</a:t>
            </a:r>
          </a:p>
          <a:p>
            <a:r>
              <a:rPr lang="en-US" altLang="ko-KR" dirty="0">
                <a:solidFill>
                  <a:srgbClr val="7EDE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-82.69881</a:t>
            </a:r>
          </a:p>
          <a:p>
            <a:r>
              <a:rPr lang="en-US" altLang="ko-KR" dirty="0">
                <a:solidFill>
                  <a:srgbClr val="E00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-83.41456</a:t>
            </a:r>
            <a:endParaRPr lang="ko-KR" altLang="en-US" dirty="0">
              <a:solidFill>
                <a:srgbClr val="E000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60EBB1-FB53-18B6-BC8C-D1538EE2A2FF}"/>
              </a:ext>
            </a:extLst>
          </p:cNvPr>
          <p:cNvSpPr txBox="1"/>
          <p:nvPr/>
        </p:nvSpPr>
        <p:spPr>
          <a:xfrm>
            <a:off x="5360454" y="3242102"/>
            <a:ext cx="12170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80E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-52.73232</a:t>
            </a:r>
          </a:p>
          <a:p>
            <a:r>
              <a:rPr lang="en-US" altLang="ko-KR" dirty="0">
                <a:solidFill>
                  <a:srgbClr val="7EDE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-53.21182</a:t>
            </a:r>
          </a:p>
          <a:p>
            <a:r>
              <a:rPr lang="en-US" altLang="ko-KR" dirty="0">
                <a:solidFill>
                  <a:srgbClr val="E00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-54.09036</a:t>
            </a:r>
            <a:endParaRPr lang="ko-KR" altLang="en-US" dirty="0">
              <a:solidFill>
                <a:srgbClr val="E000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C6FC2D-5753-4390-3890-6D02F7857971}"/>
              </a:ext>
            </a:extLst>
          </p:cNvPr>
          <p:cNvSpPr txBox="1"/>
          <p:nvPr/>
        </p:nvSpPr>
        <p:spPr>
          <a:xfrm>
            <a:off x="4332265" y="4055507"/>
            <a:ext cx="12170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80E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-22.37242</a:t>
            </a:r>
          </a:p>
          <a:p>
            <a:r>
              <a:rPr lang="en-US" altLang="ko-KR" dirty="0">
                <a:solidFill>
                  <a:srgbClr val="7EDE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-22.9449</a:t>
            </a:r>
          </a:p>
          <a:p>
            <a:r>
              <a:rPr lang="en-US" altLang="ko-KR" dirty="0">
                <a:solidFill>
                  <a:srgbClr val="E00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-23.89434</a:t>
            </a:r>
            <a:endParaRPr lang="ko-KR" altLang="en-US" dirty="0">
              <a:solidFill>
                <a:srgbClr val="E000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D6C323-225F-6562-8DC1-935B3E7F8EC9}"/>
              </a:ext>
            </a:extLst>
          </p:cNvPr>
          <p:cNvSpPr txBox="1"/>
          <p:nvPr/>
        </p:nvSpPr>
        <p:spPr>
          <a:xfrm>
            <a:off x="3273132" y="2257554"/>
            <a:ext cx="11464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80E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8.209871</a:t>
            </a:r>
          </a:p>
          <a:p>
            <a:r>
              <a:rPr lang="en-US" altLang="ko-KR" dirty="0">
                <a:solidFill>
                  <a:srgbClr val="7EDE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7.56896</a:t>
            </a:r>
          </a:p>
          <a:p>
            <a:r>
              <a:rPr lang="en-US" altLang="ko-KR" dirty="0">
                <a:solidFill>
                  <a:srgbClr val="E00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6.569844</a:t>
            </a:r>
            <a:endParaRPr lang="ko-KR" altLang="en-US" dirty="0">
              <a:solidFill>
                <a:srgbClr val="E000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6B0489C8-B3B3-5B11-F90E-51CC87077E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409172"/>
              </p:ext>
            </p:extLst>
          </p:nvPr>
        </p:nvGraphicFramePr>
        <p:xfrm>
          <a:off x="9409015" y="1479025"/>
          <a:ext cx="2231770" cy="4328160"/>
        </p:xfrm>
        <a:graphic>
          <a:graphicData uri="http://schemas.openxmlformats.org/drawingml/2006/table">
            <a:tbl>
              <a:tblPr/>
              <a:tblGrid>
                <a:gridCol w="1220514">
                  <a:extLst>
                    <a:ext uri="{9D8B030D-6E8A-4147-A177-3AD203B41FA5}">
                      <a16:colId xmlns:a16="http://schemas.microsoft.com/office/drawing/2014/main" val="2584172532"/>
                    </a:ext>
                  </a:extLst>
                </a:gridCol>
                <a:gridCol w="1011256">
                  <a:extLst>
                    <a:ext uri="{9D8B030D-6E8A-4147-A177-3AD203B41FA5}">
                      <a16:colId xmlns:a16="http://schemas.microsoft.com/office/drawing/2014/main" val="2594368074"/>
                    </a:ext>
                  </a:extLst>
                </a:gridCol>
              </a:tblGrid>
              <a:tr h="27270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Hz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dB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31023"/>
                  </a:ext>
                </a:extLst>
              </a:tr>
              <a:tr h="4480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1k-10k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0080E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-30.62</a:t>
                      </a:r>
                    </a:p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7EDE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-30.56</a:t>
                      </a:r>
                    </a:p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E0008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-30.50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930857"/>
                  </a:ext>
                </a:extLst>
              </a:tr>
              <a:tr h="4480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10k-100k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0080E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-30.45</a:t>
                      </a:r>
                    </a:p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7EDE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-30.36</a:t>
                      </a:r>
                    </a:p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E0008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-30.28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89466"/>
                  </a:ext>
                </a:extLst>
              </a:tr>
              <a:tr h="4480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100k-1M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0080E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-30.08</a:t>
                      </a:r>
                    </a:p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7EDE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-29.93</a:t>
                      </a:r>
                    </a:p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E0008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-29.78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9502737"/>
                  </a:ext>
                </a:extLst>
              </a:tr>
              <a:tr h="4480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1M-10M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0080E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-28.53</a:t>
                      </a:r>
                    </a:p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7EDE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-28.12</a:t>
                      </a:r>
                    </a:p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E0008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-27.64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0545721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40D649A8-1C0B-2188-8199-46BF9CBD7161}"/>
              </a:ext>
            </a:extLst>
          </p:cNvPr>
          <p:cNvSpPr/>
          <p:nvPr/>
        </p:nvSpPr>
        <p:spPr>
          <a:xfrm>
            <a:off x="292214" y="833774"/>
            <a:ext cx="11607572" cy="5559781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397C2B0-C50F-B9BD-69C9-3C4D679B1BE9}"/>
              </a:ext>
            </a:extLst>
          </p:cNvPr>
          <p:cNvSpPr/>
          <p:nvPr/>
        </p:nvSpPr>
        <p:spPr>
          <a:xfrm>
            <a:off x="9109710" y="833774"/>
            <a:ext cx="2790076" cy="5559781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014255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CB563-4B0F-542B-223B-292F27C02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A962C5B-9B7E-160F-9462-A105D591FD7C}"/>
              </a:ext>
            </a:extLst>
          </p:cNvPr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PEX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848FE32-641C-B211-748B-F8D41E493DD3}"/>
              </a:ext>
            </a:extLst>
          </p:cNvPr>
          <p:cNvCxnSpPr>
            <a:cxnSpLocks/>
            <a:endCxn id="7" idx="3"/>
          </p:cNvCxnSpPr>
          <p:nvPr/>
        </p:nvCxnSpPr>
        <p:spPr>
          <a:xfrm>
            <a:off x="952500" y="464442"/>
            <a:ext cx="109472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1E0DC96-0669-DBB6-5A97-F950CF6DDC34}"/>
              </a:ext>
            </a:extLst>
          </p:cNvPr>
          <p:cNvSpPr txBox="1"/>
          <p:nvPr/>
        </p:nvSpPr>
        <p:spPr>
          <a:xfrm>
            <a:off x="9213241" y="5782544"/>
            <a:ext cx="1398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Calibreview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E51860-FF60-9D85-5CFA-A455A47C01BC}"/>
              </a:ext>
            </a:extLst>
          </p:cNvPr>
          <p:cNvSpPr txBox="1"/>
          <p:nvPr/>
        </p:nvSpPr>
        <p:spPr>
          <a:xfrm>
            <a:off x="9480075" y="3858891"/>
            <a:ext cx="829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DSPF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그림 10" descr="스크린샷, 텍스트, 번호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3EF5FEE-7A02-A16D-5DB3-AA0F8D56F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2806" y="3070261"/>
            <a:ext cx="3802152" cy="600075"/>
          </a:xfrm>
          <a:prstGeom prst="rect">
            <a:avLst/>
          </a:prstGeom>
        </p:spPr>
      </p:pic>
      <p:pic>
        <p:nvPicPr>
          <p:cNvPr id="17" name="그림 16" descr="스크린샷, 텍스트, 번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0257C34-E121-B4B1-C71D-0DDA3F2730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0199" y="1147789"/>
            <a:ext cx="2849278" cy="56197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BDFBBFA-756D-0A21-0123-2D73E7C16E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3315" y="5036997"/>
            <a:ext cx="2846162" cy="56088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003FB9B-7B0A-F553-DA57-9A00A92F78E6}"/>
              </a:ext>
            </a:extLst>
          </p:cNvPr>
          <p:cNvSpPr txBox="1"/>
          <p:nvPr/>
        </p:nvSpPr>
        <p:spPr>
          <a:xfrm>
            <a:off x="9407662" y="1900312"/>
            <a:ext cx="1033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Pre-sim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그림 22" descr="텍스트, 번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024BF2-ECB0-C959-51E8-1281306C61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839" y="911639"/>
            <a:ext cx="6457950" cy="1495425"/>
          </a:xfrm>
          <a:prstGeom prst="rect">
            <a:avLst/>
          </a:prstGeom>
        </p:spPr>
      </p:pic>
      <p:pic>
        <p:nvPicPr>
          <p:cNvPr id="25" name="그림 24" descr="텍스트, 폰트, 번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65F453-A17A-B505-F2B7-0C8886CAAC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031" y="4695820"/>
            <a:ext cx="6400800" cy="1457325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A40D77F1-EA0D-965A-4EDB-E40BDE7FC16A}"/>
              </a:ext>
            </a:extLst>
          </p:cNvPr>
          <p:cNvSpPr/>
          <p:nvPr/>
        </p:nvSpPr>
        <p:spPr>
          <a:xfrm>
            <a:off x="172439" y="649108"/>
            <a:ext cx="11864051" cy="567548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BAF5952-D1B0-5EC9-DBDB-4F5CB4251D9F}"/>
              </a:ext>
            </a:extLst>
          </p:cNvPr>
          <p:cNvSpPr/>
          <p:nvPr/>
        </p:nvSpPr>
        <p:spPr>
          <a:xfrm>
            <a:off x="172439" y="2557634"/>
            <a:ext cx="11864051" cy="1966736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03F6ED1-3721-54EA-E831-37F5EE23443F}"/>
              </a:ext>
            </a:extLst>
          </p:cNvPr>
          <p:cNvSpPr/>
          <p:nvPr/>
        </p:nvSpPr>
        <p:spPr>
          <a:xfrm>
            <a:off x="7788728" y="649109"/>
            <a:ext cx="4247762" cy="5675488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그림 31" descr="텍스트, 폰트, 번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B42647-C1BD-E103-5CCA-20421CE19E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9171" y="2807577"/>
            <a:ext cx="7362825" cy="146685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BFF82FE-AF3F-3C1B-9C55-1CE8243792A4}"/>
              </a:ext>
            </a:extLst>
          </p:cNvPr>
          <p:cNvSpPr txBox="1"/>
          <p:nvPr/>
        </p:nvSpPr>
        <p:spPr>
          <a:xfrm>
            <a:off x="5792327" y="6382128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RCC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9391773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9F16D-0048-ED52-B5DD-744AED8D7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8163065-0702-DA7C-9010-B7338F538BEC}"/>
              </a:ext>
            </a:extLst>
          </p:cNvPr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PEX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E8FC1F1-8D5A-8613-949E-F17271848393}"/>
              </a:ext>
            </a:extLst>
          </p:cNvPr>
          <p:cNvCxnSpPr>
            <a:cxnSpLocks/>
            <a:endCxn id="7" idx="3"/>
          </p:cNvCxnSpPr>
          <p:nvPr/>
        </p:nvCxnSpPr>
        <p:spPr>
          <a:xfrm>
            <a:off x="952500" y="464442"/>
            <a:ext cx="109472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A5CE357-03B4-70EF-FB27-74EAB05975DD}"/>
              </a:ext>
            </a:extLst>
          </p:cNvPr>
          <p:cNvSpPr txBox="1"/>
          <p:nvPr/>
        </p:nvSpPr>
        <p:spPr>
          <a:xfrm>
            <a:off x="5654642" y="6402793"/>
            <a:ext cx="882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DSPF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A02C84-6B1F-F687-29D3-4741DD662140}"/>
              </a:ext>
            </a:extLst>
          </p:cNvPr>
          <p:cNvSpPr txBox="1"/>
          <p:nvPr/>
        </p:nvSpPr>
        <p:spPr>
          <a:xfrm>
            <a:off x="9604379" y="3385222"/>
            <a:ext cx="6164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RCC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5462935-9CEC-3CD3-5106-93E727BC4864}"/>
              </a:ext>
            </a:extLst>
          </p:cNvPr>
          <p:cNvSpPr/>
          <p:nvPr/>
        </p:nvSpPr>
        <p:spPr>
          <a:xfrm>
            <a:off x="172439" y="649108"/>
            <a:ext cx="11864051" cy="567548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94138C0-DB3B-A28E-1111-A01C304E33A6}"/>
              </a:ext>
            </a:extLst>
          </p:cNvPr>
          <p:cNvSpPr/>
          <p:nvPr/>
        </p:nvSpPr>
        <p:spPr>
          <a:xfrm>
            <a:off x="172439" y="2557634"/>
            <a:ext cx="11864051" cy="1966736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C2764CD-945A-26D0-492C-D9DD2A620F16}"/>
              </a:ext>
            </a:extLst>
          </p:cNvPr>
          <p:cNvSpPr/>
          <p:nvPr/>
        </p:nvSpPr>
        <p:spPr>
          <a:xfrm>
            <a:off x="7788728" y="649109"/>
            <a:ext cx="4247762" cy="5675488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0269B1-50CF-1543-1469-15F0278E9BAA}"/>
              </a:ext>
            </a:extLst>
          </p:cNvPr>
          <p:cNvSpPr txBox="1"/>
          <p:nvPr/>
        </p:nvSpPr>
        <p:spPr>
          <a:xfrm>
            <a:off x="9498025" y="1418705"/>
            <a:ext cx="8291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C+CC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그림 1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A2F446C-C8A3-DA1A-33CB-6922DCDA8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93" y="4686835"/>
            <a:ext cx="7381875" cy="14763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C31724C-4DA2-D1E4-FE32-93E61C29B23B}"/>
              </a:ext>
            </a:extLst>
          </p:cNvPr>
          <p:cNvSpPr txBox="1"/>
          <p:nvPr/>
        </p:nvSpPr>
        <p:spPr>
          <a:xfrm>
            <a:off x="9516265" y="5239817"/>
            <a:ext cx="792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NoRC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그림 15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6E30D0-8720-9964-E5EF-DBE4A8139B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0042"/>
          <a:stretch>
            <a:fillRect/>
          </a:stretch>
        </p:blipFill>
        <p:spPr>
          <a:xfrm>
            <a:off x="275359" y="866477"/>
            <a:ext cx="7410450" cy="1473787"/>
          </a:xfrm>
          <a:prstGeom prst="rect">
            <a:avLst/>
          </a:prstGeom>
        </p:spPr>
      </p:pic>
      <p:pic>
        <p:nvPicPr>
          <p:cNvPr id="20" name="그림 19" descr="텍스트, 폰트, 번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21AC7DC-5EFA-D6F1-DA9D-37CDB97667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017" y="2807577"/>
            <a:ext cx="7362825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632228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8BFC2-1771-C6A6-A6C8-A40EA3CD3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272BE98-88C4-C668-8FA9-36ADB4FDD256}"/>
              </a:ext>
            </a:extLst>
          </p:cNvPr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PEX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D4E5B6D-870F-8A89-E6B6-51C3AC7C719B}"/>
              </a:ext>
            </a:extLst>
          </p:cNvPr>
          <p:cNvCxnSpPr>
            <a:cxnSpLocks/>
            <a:endCxn id="7" idx="3"/>
          </p:cNvCxnSpPr>
          <p:nvPr/>
        </p:nvCxnSpPr>
        <p:spPr>
          <a:xfrm>
            <a:off x="952500" y="464442"/>
            <a:ext cx="109472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44E0CD6-78EA-8A81-8F37-4EFE9DA813B6}"/>
              </a:ext>
            </a:extLst>
          </p:cNvPr>
          <p:cNvSpPr txBox="1"/>
          <p:nvPr/>
        </p:nvSpPr>
        <p:spPr>
          <a:xfrm>
            <a:off x="5686967" y="5716240"/>
            <a:ext cx="818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DSPF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900B8D-4841-707D-F5DF-810AFFFF6B89}"/>
              </a:ext>
            </a:extLst>
          </p:cNvPr>
          <p:cNvSpPr txBox="1"/>
          <p:nvPr/>
        </p:nvSpPr>
        <p:spPr>
          <a:xfrm>
            <a:off x="9750427" y="2402988"/>
            <a:ext cx="324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6B50271-6D42-FF11-46C1-1B53D8572C3C}"/>
              </a:ext>
            </a:extLst>
          </p:cNvPr>
          <p:cNvSpPr/>
          <p:nvPr/>
        </p:nvSpPr>
        <p:spPr>
          <a:xfrm>
            <a:off x="172439" y="1632478"/>
            <a:ext cx="11864051" cy="3875262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BFC0CE0-DCC1-F4ED-9481-F8719220DD03}"/>
              </a:ext>
            </a:extLst>
          </p:cNvPr>
          <p:cNvSpPr/>
          <p:nvPr/>
        </p:nvSpPr>
        <p:spPr>
          <a:xfrm>
            <a:off x="172439" y="3541003"/>
            <a:ext cx="11864051" cy="1966736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D965AE7-A5D6-B73A-056E-A3B3BED82EC5}"/>
              </a:ext>
            </a:extLst>
          </p:cNvPr>
          <p:cNvSpPr/>
          <p:nvPr/>
        </p:nvSpPr>
        <p:spPr>
          <a:xfrm>
            <a:off x="7788728" y="1632478"/>
            <a:ext cx="4247762" cy="3875261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AFD553-AB68-B85C-4A83-679F6A3C8424}"/>
              </a:ext>
            </a:extLst>
          </p:cNvPr>
          <p:cNvSpPr txBox="1"/>
          <p:nvPr/>
        </p:nvSpPr>
        <p:spPr>
          <a:xfrm>
            <a:off x="9623472" y="4339705"/>
            <a:ext cx="578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RC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그림 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0AD880-5328-509F-5B3D-2378D1387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214" y="3800471"/>
            <a:ext cx="7372350" cy="1447800"/>
          </a:xfrm>
          <a:prstGeom prst="rect">
            <a:avLst/>
          </a:prstGeom>
        </p:spPr>
      </p:pic>
      <p:pic>
        <p:nvPicPr>
          <p:cNvPr id="11" name="그림 10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359F45-8CD5-6710-DC40-CE2721F37A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39" y="1853315"/>
            <a:ext cx="7353300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394543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FBA5B-7137-B6BD-A7F0-CB76D1328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0126F42-E7E6-17CB-E177-76723B1B98C5}"/>
              </a:ext>
            </a:extLst>
          </p:cNvPr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Comparison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2FB1650-C431-A9DE-24C8-528DF69FAA4F}"/>
              </a:ext>
            </a:extLst>
          </p:cNvPr>
          <p:cNvCxnSpPr>
            <a:cxnSpLocks/>
            <a:endCxn id="7" idx="3"/>
          </p:cNvCxnSpPr>
          <p:nvPr/>
        </p:nvCxnSpPr>
        <p:spPr>
          <a:xfrm>
            <a:off x="1698171" y="464442"/>
            <a:ext cx="102016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23FEE9-AEF4-1144-B2D1-DAA9BE725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963" y="833774"/>
            <a:ext cx="9050073" cy="5086281"/>
          </a:xfrm>
          <a:prstGeom prst="rect">
            <a:avLst/>
          </a:prstGeom>
        </p:spPr>
      </p:pic>
      <p:sp>
        <p:nvSpPr>
          <p:cNvPr id="18" name="Rectangle 2">
            <a:extLst>
              <a:ext uri="{FF2B5EF4-FFF2-40B4-BE49-F238E27FC236}">
                <a16:creationId xmlns:a16="http://schemas.microsoft.com/office/drawing/2014/main" id="{2150D8ED-7724-A3BC-554C-861382FD3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214" y="5532677"/>
            <a:ext cx="11107406" cy="1240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Reason of the rise of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FoM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Not because of the performance improvement, </a:t>
            </a:r>
          </a:p>
          <a:p>
            <a:pPr lv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=&gt; the voltage drop caused by the parasitic resistor has abnormally reduced the power consumption</a:t>
            </a:r>
            <a:r>
              <a:rPr lang="en-US" altLang="ko-KR" dirty="0"/>
              <a:t>.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06830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BE6F7-DBE5-9295-F15E-E6379B2B9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7B21E36-A304-4234-AEB2-82AB9AC92425}"/>
              </a:ext>
            </a:extLst>
          </p:cNvPr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Comparison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B038F45-4AF3-BD64-E4C6-8435D9F73514}"/>
              </a:ext>
            </a:extLst>
          </p:cNvPr>
          <p:cNvCxnSpPr>
            <a:cxnSpLocks/>
            <a:endCxn id="7" idx="3"/>
          </p:cNvCxnSpPr>
          <p:nvPr/>
        </p:nvCxnSpPr>
        <p:spPr>
          <a:xfrm>
            <a:off x="1698171" y="464442"/>
            <a:ext cx="102016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1F8F5B-9AA5-50B2-5F7C-D1CA557F7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972" y="833774"/>
            <a:ext cx="10026056" cy="555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731199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7A7BE-CFED-3792-5D88-B8051CA54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BAE0E36-B248-AA97-1D34-89E685058C78}"/>
              </a:ext>
            </a:extLst>
          </p:cNvPr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Comparison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C126813-B8DD-3DB4-91DE-472DD134C23C}"/>
              </a:ext>
            </a:extLst>
          </p:cNvPr>
          <p:cNvCxnSpPr>
            <a:cxnSpLocks/>
            <a:endCxn id="7" idx="3"/>
          </p:cNvCxnSpPr>
          <p:nvPr/>
        </p:nvCxnSpPr>
        <p:spPr>
          <a:xfrm>
            <a:off x="1688841" y="464442"/>
            <a:ext cx="102109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19" descr="텍스트, 스크린샷, 도표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5ED6F0-34F7-93F0-FEA7-78127CF63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304" y="782608"/>
            <a:ext cx="8641392" cy="561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681668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44B78-0407-B988-6863-A8D3FF4B5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34F614-43CF-F337-BE65-0668BD303CDE}"/>
              </a:ext>
            </a:extLst>
          </p:cNvPr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Comparison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DC9C58E-B521-1DB5-E3CE-C396C0777938}"/>
              </a:ext>
            </a:extLst>
          </p:cNvPr>
          <p:cNvCxnSpPr>
            <a:cxnSpLocks/>
            <a:endCxn id="7" idx="3"/>
          </p:cNvCxnSpPr>
          <p:nvPr/>
        </p:nvCxnSpPr>
        <p:spPr>
          <a:xfrm>
            <a:off x="1688841" y="464442"/>
            <a:ext cx="102109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림 18" descr="텍스트, 스크린샷, 도표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A01E24-94C7-1600-8AE4-BFE61E395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249" y="833774"/>
            <a:ext cx="8723501" cy="5611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625263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C46DB-287C-A5DD-37AE-A8DDF5AC3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ACFD5E8-C3A4-AA58-3002-301AB4B0998A}"/>
              </a:ext>
            </a:extLst>
          </p:cNvPr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AA448C8-982C-FA7A-DB38-0AE00F93583B}"/>
              </a:ext>
            </a:extLst>
          </p:cNvPr>
          <p:cNvCxnSpPr>
            <a:cxnSpLocks/>
            <a:endCxn id="7" idx="3"/>
          </p:cNvCxnSpPr>
          <p:nvPr/>
        </p:nvCxnSpPr>
        <p:spPr>
          <a:xfrm>
            <a:off x="1688841" y="464442"/>
            <a:ext cx="102109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2">
                <a:extLst>
                  <a:ext uri="{FF2B5EF4-FFF2-40B4-BE49-F238E27FC236}">
                    <a16:creationId xmlns:a16="http://schemas.microsoft.com/office/drawing/2014/main" id="{CB040CAE-16A0-8EEF-F4B6-AA102CA9B8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214" y="654892"/>
                <a:ext cx="11899786" cy="5986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742950" lvl="1" indent="-285750" eaLnBrk="0" fontAlgn="base" latinLnBrk="0" hangingPunct="0">
                  <a:spcBef>
                    <a:spcPct val="0"/>
                  </a:spcBef>
                  <a:spcAft>
                    <a:spcPts val="600"/>
                  </a:spcAft>
                  <a:buFont typeface="Wingdings" panose="05000000000000000000" pitchFamily="2" charset="2"/>
                  <a:buChar char="u"/>
                </a:pPr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The frequency drop was caused by parasitic C and R.</a:t>
                </a:r>
              </a:p>
              <a:p>
                <a:pPr lvl="2" eaLnBrk="0" fontAlgn="base" latinLnBrk="0" hangingPunct="0">
                  <a:spcBef>
                    <a:spcPct val="0"/>
                  </a:spcBef>
                  <a:spcAft>
                    <a:spcPts val="600"/>
                  </a:spcAft>
                </a:pPr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20.9G -&gt; 14.5G by C </a:t>
                </a:r>
              </a:p>
              <a:p>
                <a:pPr marL="1657350" lvl="3" indent="-285750" eaLnBrk="0" fontAlgn="base" latinLnBrk="0" hangingPunct="0"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layout wiring, metal fill, parasitic caps around inductors, etc.</a:t>
                </a:r>
              </a:p>
              <a:p>
                <a:pPr lvl="2" eaLnBrk="0" fontAlgn="base" latinLnBrk="0" hangingPunct="0">
                  <a:spcBef>
                    <a:spcPct val="0"/>
                  </a:spcBef>
                  <a:spcAft>
                    <a:spcPts val="600"/>
                  </a:spcAft>
                </a:pPr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20.9G -&gt; 15.4G by R</a:t>
                </a:r>
              </a:p>
              <a:p>
                <a:pPr marL="1657350" lvl="3" indent="-285750" eaLnBrk="0" fontAlgn="base" latinLnBrk="0" hangingPunct="0"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High resistance of Power/Ground wiring.</a:t>
                </a:r>
              </a:p>
              <a:p>
                <a:pPr lvl="3" eaLnBrk="0" fontAlgn="base" latinLnBrk="0" hangingPunct="0">
                  <a:spcBef>
                    <a:spcPct val="0"/>
                  </a:spcBef>
                  <a:spcAft>
                    <a:spcPts val="600"/>
                  </a:spcAft>
                </a:pPr>
                <a:endParaRPr lang="en-US" altLang="ko-K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 eaLnBrk="0" fontAlgn="base" latinLnBrk="0" hangingPunct="0">
                  <a:spcBef>
                    <a:spcPct val="0"/>
                  </a:spcBef>
                  <a:spcAft>
                    <a:spcPts val="600"/>
                  </a:spcAft>
                  <a:buFont typeface="Wingdings" panose="05000000000000000000" pitchFamily="2" charset="2"/>
                  <a:buChar char="u"/>
                </a:pPr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IR Drop by parasitic resistance</a:t>
                </a:r>
              </a:p>
              <a:p>
                <a:pPr marL="1257300" lvl="2" indent="-342900" eaLnBrk="0" fontAlgn="base" latinLnBrk="0" hangingPunct="0"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When extracting only parasitic R, the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𝑑𝑐</m:t>
                        </m:r>
                      </m:sub>
                    </m:sSub>
                  </m:oMath>
                </a14:m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 plummeted by about 26% to 5.6mA -&gt; 4.1mA.</a:t>
                </a:r>
              </a:p>
              <a:p>
                <a:pPr marL="1257300" lvl="2" indent="-342900" eaLnBrk="0" fontAlgn="base" latinLnBrk="0" hangingPunct="0"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The wiring from the VDD to the transistor was too thin or long, causing severe voltage drop. </a:t>
                </a:r>
              </a:p>
              <a:p>
                <a:pPr lvl="3" eaLnBrk="0" fontAlgn="base" latinLnBrk="0" hangingPunct="0">
                  <a:spcBef>
                    <a:spcPct val="0"/>
                  </a:spcBef>
                  <a:spcAft>
                    <a:spcPts val="600"/>
                  </a:spcAft>
                </a:pPr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-&gt; This causes the transistor's bias point to be distorted, </a:t>
                </a:r>
              </a:p>
              <a:p>
                <a:pPr lvl="4" eaLnBrk="0" fontAlgn="base" latinLnBrk="0" hangingPunct="0">
                  <a:spcBef>
                    <a:spcPct val="0"/>
                  </a:spcBef>
                  <a:spcAft>
                    <a:spcPts val="600"/>
                  </a:spcAft>
                </a:pPr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disrupting normal oscillation and eating away at the frequency.</a:t>
                </a:r>
              </a:p>
              <a:p>
                <a:pPr lvl="4" eaLnBrk="0" fontAlgn="base" latinLnBrk="0" hangingPunct="0">
                  <a:spcBef>
                    <a:spcPct val="0"/>
                  </a:spcBef>
                  <a:spcAft>
                    <a:spcPts val="600"/>
                  </a:spcAft>
                </a:pPr>
                <a:endParaRPr lang="en-US" altLang="ko-K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 eaLnBrk="0" fontAlgn="base" latinLnBrk="0" hangingPunct="0">
                  <a:spcBef>
                    <a:spcPct val="0"/>
                  </a:spcBef>
                  <a:spcAft>
                    <a:spcPts val="600"/>
                  </a:spcAft>
                  <a:buFont typeface="Wingdings" panose="05000000000000000000" pitchFamily="2" charset="2"/>
                  <a:buChar char="u"/>
                </a:pPr>
                <a:r>
                  <a:rPr lang="en-US" altLang="ko-KR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Calibre</a:t>
                </a:r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 view VS DSPF</a:t>
                </a:r>
              </a:p>
              <a:p>
                <a:pPr lvl="2" eaLnBrk="0" fontAlgn="base" latinLnBrk="0" hangingPunct="0">
                  <a:spcBef>
                    <a:spcPct val="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there</m:t>
                      </m:r>
                      <m:r>
                        <m:rPr>
                          <m:nor/>
                        </m:rP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slight</m:t>
                      </m:r>
                      <m:r>
                        <m:rPr>
                          <m:nor/>
                        </m:rP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difference</m:t>
                      </m:r>
                      <m:r>
                        <m:rPr>
                          <m:nor/>
                        </m:rP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between</m:t>
                      </m:r>
                      <m:r>
                        <m:rPr>
                          <m:nor/>
                        </m:rP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two</m:t>
                      </m:r>
                      <m:r>
                        <m:rPr>
                          <m:nor/>
                        </m:rP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extraction</m:t>
                      </m:r>
                      <m:r>
                        <m:rPr>
                          <m:nor/>
                        </m:rP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methods</m:t>
                      </m:r>
                    </m:oMath>
                  </m:oMathPara>
                </a14:m>
                <a:endParaRPr lang="en-US" altLang="ko-K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657350" lvl="3" indent="-285750" eaLnBrk="0" fontAlgn="base" latinLnBrk="0" hangingPunct="0"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𝑜𝑠𝑐</m:t>
                        </m:r>
                      </m:sub>
                    </m:sSub>
                  </m:oMath>
                </a14:m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: The </a:t>
                </a:r>
                <a:r>
                  <a:rPr lang="en-US" altLang="ko-KR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Calibre</a:t>
                </a:r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 results were 0.2~0.6% higher than the DSPF. </a:t>
                </a:r>
              </a:p>
              <a:p>
                <a:pPr marL="1657350" lvl="3" indent="-285750" eaLnBrk="0" fontAlgn="base" latinLnBrk="0" hangingPunct="0"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Phase Noise: almost identical, less than 0.05%. </a:t>
                </a:r>
              </a:p>
              <a:p>
                <a:pPr lvl="2" eaLnBrk="0" fontAlgn="base" latinLnBrk="0" hangingPunct="0">
                  <a:spcBef>
                    <a:spcPct val="0"/>
                  </a:spcBef>
                  <a:spcAft>
                    <a:spcPts val="600"/>
                  </a:spcAft>
                </a:pPr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DSPF is preferred by industry because of portability and simulation tool independence.</a:t>
                </a:r>
              </a:p>
            </p:txBody>
          </p:sp>
        </mc:Choice>
        <mc:Fallback xmlns="">
          <p:sp>
            <p:nvSpPr>
              <p:cNvPr id="19" name="Rectangle 12">
                <a:extLst>
                  <a:ext uri="{FF2B5EF4-FFF2-40B4-BE49-F238E27FC236}">
                    <a16:creationId xmlns:a16="http://schemas.microsoft.com/office/drawing/2014/main" id="{CB040CAE-16A0-8EEF-F4B6-AA102CA9B8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2214" y="654892"/>
                <a:ext cx="11899786" cy="5986254"/>
              </a:xfrm>
              <a:prstGeom prst="rect">
                <a:avLst/>
              </a:prstGeom>
              <a:blipFill>
                <a:blip r:embed="rId3"/>
                <a:stretch>
                  <a:fillRect t="-1324" b="-71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646804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테마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113975</TotalTime>
  <Words>788</Words>
  <Application>Microsoft Office PowerPoint</Application>
  <PresentationFormat>와이드스크린</PresentationFormat>
  <Paragraphs>260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2" baseType="lpstr">
      <vt:lpstr>맑은 고딕</vt:lpstr>
      <vt:lpstr>Arial</vt:lpstr>
      <vt:lpstr>Cambria Math</vt:lpstr>
      <vt:lpstr>Georgia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황인철</dc:creator>
  <cp:lastModifiedBy>CMJ</cp:lastModifiedBy>
  <cp:revision>1983</cp:revision>
  <dcterms:created xsi:type="dcterms:W3CDTF">2022-05-26T00:02:50Z</dcterms:created>
  <dcterms:modified xsi:type="dcterms:W3CDTF">2026-02-02T01:18:58Z</dcterms:modified>
  <cp:version/>
</cp:coreProperties>
</file>