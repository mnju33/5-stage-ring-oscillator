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5OlMCTzH3FZYg2FjOimbTZX//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59B097-DA96-452A-B9A7-D820D7F16762}">
  <a:tblStyle styleId="{E259B097-DA96-452A-B9A7-D820D7F167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2F7"/>
          </a:solidFill>
        </a:fill>
      </a:tcStyle>
    </a:wholeTbl>
    <a:band1H>
      <a:tcTxStyle/>
      <a:tcStyle>
        <a:tcBdr/>
        <a:fill>
          <a:solidFill>
            <a:srgbClr val="DCE5E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CE5E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>
        <p:guide orient="horz" pos="2157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3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02" name="Google Shape;102;p23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47" name="Google Shape;147;p5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83" name="Google Shape;183;p8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196" name="Google Shape;196;p9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06" name="Google Shape;206;p10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4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15" name="Google Shape;215;p24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23" name="Google Shape;223;p11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31" name="Google Shape;231;p12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43" name="Google Shape;243;p13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4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53" name="Google Shape;253;p14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5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62" name="Google Shape;262;p25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71" name="Google Shape;271;p15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82" name="Google Shape;282;p16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8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07" name="Google Shape;307;p18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19" name="Google Shape;319;p19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0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31" name="Google Shape;331;p20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40" name="Google Shape;340;p21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48" name="Google Shape;348;p22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6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/>
          </a:p>
        </p:txBody>
      </p:sp>
      <p:sp>
        <p:nvSpPr>
          <p:cNvPr id="356" name="Google Shape;356;p26:notes"/>
          <p:cNvSpPr txBox="1">
            <a:spLocks noGrp="1"/>
          </p:cNvSpPr>
          <p:nvPr>
            <p:ph type="sldNum" idx="12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3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3"/>
          <p:cNvSpPr/>
          <p:nvPr/>
        </p:nvSpPr>
        <p:spPr>
          <a:xfrm>
            <a:off x="0" y="6792927"/>
            <a:ext cx="12192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33"/>
          <p:cNvGrpSpPr/>
          <p:nvPr/>
        </p:nvGrpSpPr>
        <p:grpSpPr>
          <a:xfrm>
            <a:off x="10610165" y="86694"/>
            <a:ext cx="1487269" cy="244718"/>
            <a:chOff x="3752851" y="3109913"/>
            <a:chExt cx="2478781" cy="407863"/>
          </a:xfrm>
        </p:grpSpPr>
        <p:pic>
          <p:nvPicPr>
            <p:cNvPr id="18" name="Google Shape;18;p3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3752851" y="3109913"/>
              <a:ext cx="1035174" cy="403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860032" y="3212976"/>
              <a:ext cx="13716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" name="Google Shape;20;p33"/>
          <p:cNvGrpSpPr/>
          <p:nvPr/>
        </p:nvGrpSpPr>
        <p:grpSpPr>
          <a:xfrm>
            <a:off x="11459126" y="6517504"/>
            <a:ext cx="638308" cy="239697"/>
            <a:chOff x="8028384" y="147738"/>
            <a:chExt cx="972740" cy="328934"/>
          </a:xfrm>
        </p:grpSpPr>
        <p:pic>
          <p:nvPicPr>
            <p:cNvPr id="21" name="Google Shape;21;p33" descr="http://icsl.kangwon.ac.kr/_oxdir/data/design/logo.jp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8215338" y="147738"/>
              <a:ext cx="785786" cy="328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3" descr="다이포토.JP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028384" y="188640"/>
              <a:ext cx="216024" cy="237039"/>
            </a:xfrm>
            <a:prstGeom prst="rect">
              <a:avLst/>
            </a:prstGeom>
            <a:noFill/>
            <a:ln>
              <a:noFill/>
            </a:ln>
            <a:effectLst>
              <a:outerShdw blurRad="292100" dist="139700" dir="2700000" algn="tl" rotWithShape="0">
                <a:srgbClr val="333333">
                  <a:alpha val="64313"/>
                </a:srgbClr>
              </a:outerShdw>
            </a:effectLst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4906145" y="3198188"/>
            <a:ext cx="237970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5-stage-ROSC</a:t>
            </a:r>
            <a:endParaRPr sz="2400" b="1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519200" y="5690845"/>
            <a:ext cx="3672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Minju Cho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Kangwon National Univ.</a:t>
            </a:r>
            <a:endParaRPr sz="2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5" name="Google Shape;105;p23"/>
          <p:cNvCxnSpPr>
            <a:endCxn id="104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6" name="Google Shape;106;p23"/>
          <p:cNvSpPr txBox="1"/>
          <p:nvPr/>
        </p:nvSpPr>
        <p:spPr>
          <a:xfrm>
            <a:off x="1958087" y="1002449"/>
            <a:ext cx="1750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TSMC 65nm</a:t>
            </a:r>
            <a:endParaRPr/>
          </a:p>
          <a:p>
            <a:pPr marL="2857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3"/>
          <p:cNvSpPr txBox="1"/>
          <p:nvPr/>
        </p:nvSpPr>
        <p:spPr>
          <a:xfrm>
            <a:off x="1958086" y="3033774"/>
            <a:ext cx="1877437" cy="558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TSMC 180nm</a:t>
            </a:r>
            <a:endParaRPr/>
          </a:p>
        </p:txBody>
      </p:sp>
      <p:sp>
        <p:nvSpPr>
          <p:cNvPr id="108" name="Google Shape;108;p23"/>
          <p:cNvSpPr txBox="1"/>
          <p:nvPr/>
        </p:nvSpPr>
        <p:spPr>
          <a:xfrm>
            <a:off x="1958086" y="5065099"/>
            <a:ext cx="60945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2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Comparison</a:t>
            </a:r>
          </a:p>
        </p:txBody>
      </p:sp>
      <p:sp>
        <p:nvSpPr>
          <p:cNvPr id="109" name="Google Shape;109;p23"/>
          <p:cNvSpPr txBox="1"/>
          <p:nvPr/>
        </p:nvSpPr>
        <p:spPr>
          <a:xfrm>
            <a:off x="2266861" y="1552580"/>
            <a:ext cx="6094520" cy="111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2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 Parameter</a:t>
            </a:r>
            <a:endParaRPr/>
          </a:p>
          <a:p>
            <a:pPr marL="285750" marR="0" lvl="3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Calculate FoM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2266861" y="3581821"/>
            <a:ext cx="6094520" cy="111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2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 Parameter</a:t>
            </a:r>
            <a:endParaRPr/>
          </a:p>
          <a:p>
            <a:pPr marL="285750" marR="0" lvl="3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Calculate FoM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65nm schematic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"/>
          <p:cNvCxnSpPr>
            <a:endCxn id="116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8" name="Google Shape;118;p2" descr="텍스트, 도표, 라인, 폰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9971" y="1272590"/>
            <a:ext cx="5859815" cy="4534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 descr="텍스트, 스크린샷, 도표, 폰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796" y="1239393"/>
            <a:ext cx="55911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2635081" y="6024226"/>
            <a:ext cx="1218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schematic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503243" y="6024226"/>
            <a:ext cx="933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symbol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3"/>
          <p:cNvCxnSpPr>
            <a:endCxn id="127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9" name="Google Shape;129;p3" descr="텍스트, 스크린샷, 도표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1128"/>
          <a:stretch/>
        </p:blipFill>
        <p:spPr>
          <a:xfrm>
            <a:off x="446323" y="833774"/>
            <a:ext cx="6482624" cy="527848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7175416" y="1254940"/>
            <a:ext cx="4724370" cy="44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동작을 위한 VDD=1V~1.5V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구동 전압을 높이면 발진주파수가 올라감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전류량 증가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충방전 속도 향상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지연 시간 감소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안정적인 mosfet 동작을 위해 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기준전압에서 마진 +20%까지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구동 전압 1.2로 설정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3744785" y="1790700"/>
            <a:ext cx="11769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ED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VDD=1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8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VDD=1.5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00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VDD=2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2133395" y="6208892"/>
            <a:ext cx="3108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Logic Threshold Simulation 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4"/>
          <p:cNvCxnSpPr>
            <a:endCxn id="138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40" name="Google Shape;140;p4" descr="텍스트, 스크린샷, 번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1128"/>
          <a:stretch/>
        </p:blipFill>
        <p:spPr>
          <a:xfrm>
            <a:off x="393275" y="857125"/>
            <a:ext cx="6204849" cy="50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7007100" y="2649125"/>
            <a:ext cx="51849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인버터에서 mosfet의 finger 수는 영향 없음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ROSC에서 mosfet의 finger 수 결정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2202600" y="6089484"/>
            <a:ext cx="310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 In VIN Sweep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592327" y="1448527"/>
            <a:ext cx="1543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Wp/Wn=2.5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Finger=1~5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W=3u~6u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" descr="텍스트, 스크린샷, 라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18987"/>
          <a:stretch/>
        </p:blipFill>
        <p:spPr>
          <a:xfrm>
            <a:off x="787543" y="916613"/>
            <a:ext cx="6341438" cy="502477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Length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5"/>
          <p:cNvCxnSpPr>
            <a:endCxn id="150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5"/>
          <p:cNvSpPr txBox="1"/>
          <p:nvPr/>
        </p:nvSpPr>
        <p:spPr>
          <a:xfrm>
            <a:off x="7942539" y="1093113"/>
            <a:ext cx="37641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l=60n일 때, 스위칭이 제일 빠름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전류 구동 능력 향상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기생 cap 감소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너무 줄이면 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문턱 전압 저하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드레인 전위장벽 저하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누설전류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펀치스루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S,D 공핍층 닿음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 전자 효과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전계 효과 증가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3958262" y="1484657"/>
            <a:ext cx="10102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L=120n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L=180n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L=240n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968475" y="1484657"/>
            <a:ext cx="152958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2372293" y="6117871"/>
            <a:ext cx="31719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Length In VIN Sweep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2" name="Google Shape;162;p6"/>
          <p:cNvCxnSpPr>
            <a:endCxn id="161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63" name="Google Shape;163;p6" descr="텍스트, 스크린샷, 라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16725"/>
          <a:stretch/>
        </p:blipFill>
        <p:spPr>
          <a:xfrm>
            <a:off x="592822" y="862303"/>
            <a:ext cx="6659398" cy="51333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7629444" y="1834704"/>
            <a:ext cx="4270200" cy="3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VDD 상관 없이 Wp/Wn=2.5일 때, 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스위칭 전압이 상승/하강 시간이 대칭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714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기생 cap이 커져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실제 최적의 값이 아닐 수 있음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3740854" y="1522356"/>
            <a:ext cx="152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264854" y="1522356"/>
            <a:ext cx="152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2302281" y="6208892"/>
            <a:ext cx="3240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 In VIN Sweep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7" descr="텍스트, 도표, 스크린샷, 친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4008" y="649107"/>
            <a:ext cx="4749020" cy="307579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schematic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7"/>
          <p:cNvCxnSpPr>
            <a:endCxn id="174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76" name="Google Shape;17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8109" y="649108"/>
            <a:ext cx="4316506" cy="307578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3515236" y="3724897"/>
            <a:ext cx="12022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testbench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8481884" y="3724897"/>
            <a:ext cx="12022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testbench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3666" y="4233914"/>
            <a:ext cx="8961897" cy="2267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Finger, Width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8"/>
          <p:cNvCxnSpPr>
            <a:endCxn id="185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7" name="Google Shape;187;p8"/>
          <p:cNvSpPr txBox="1"/>
          <p:nvPr/>
        </p:nvSpPr>
        <p:spPr>
          <a:xfrm>
            <a:off x="6993846" y="2219933"/>
            <a:ext cx="4276045" cy="222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 4가 제일 발진주파수가 큼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면적을 생각하면 finger 2가 최적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 3u가 최적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8" descr="텍스트, 스크린샷, 소프트웨어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9349"/>
          <a:stretch/>
        </p:blipFill>
        <p:spPr>
          <a:xfrm>
            <a:off x="922109" y="833774"/>
            <a:ext cx="5489834" cy="499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 txBox="1"/>
          <p:nvPr/>
        </p:nvSpPr>
        <p:spPr>
          <a:xfrm>
            <a:off x="1425309" y="1403872"/>
            <a:ext cx="224171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 </a:t>
            </a: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Finger=3</a:t>
            </a:r>
            <a:endParaRPr sz="1800" b="1" i="0" u="none" strike="noStrike" cap="none">
              <a:solidFill>
                <a:srgbClr val="E2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 </a:t>
            </a: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529E5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3667025" y="1403875"/>
            <a:ext cx="1821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 </a:t>
            </a: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W=4u </a:t>
            </a: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W=4u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529E5"/>
                </a:solidFill>
                <a:latin typeface="Malgun Gothic"/>
                <a:ea typeface="Malgun Gothic"/>
                <a:cs typeface="Malgun Gothic"/>
                <a:sym typeface="Malgun Gothic"/>
              </a:rPr>
              <a:t>W=4u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2095762" y="6024226"/>
            <a:ext cx="3275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Finger, Width In VDD Sweep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5238300" y="4927750"/>
            <a:ext cx="87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E2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Noise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9" name="Google Shape;199;p9"/>
          <p:cNvCxnSpPr>
            <a:endCxn id="198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00" name="Google Shape;200;p9" descr="텍스트, 스크린샷, 라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8144"/>
          <a:stretch/>
        </p:blipFill>
        <p:spPr>
          <a:xfrm>
            <a:off x="2102351" y="833774"/>
            <a:ext cx="7987297" cy="502027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 txBox="1"/>
          <p:nvPr/>
        </p:nvSpPr>
        <p:spPr>
          <a:xfrm>
            <a:off x="3161025" y="4261300"/>
            <a:ext cx="133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Corner=ff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Corner=tt</a:t>
            </a:r>
            <a:endParaRPr sz="1800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Corner=ss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5346567" y="6076418"/>
            <a:ext cx="14988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Noise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0"/>
          <p:cNvCxnSpPr>
            <a:endCxn id="208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210" name="Google Shape;210;p10"/>
          <p:cNvGraphicFramePr/>
          <p:nvPr/>
        </p:nvGraphicFramePr>
        <p:xfrm>
          <a:off x="692459" y="10564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{E259B097-DA96-452A-B9A7-D820D7F16762}</a:tableStyleId>
              </a:tblPr>
              <a:tblGrid>
                <a:gridCol w="23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FoM</a:t>
                      </a:r>
                      <a:endParaRPr sz="1800" u="none" strike="noStrike" cap="non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|PN|+20log(fosc/df)-10log(Pdc/1mW)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|PN|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rfOutputNoise("dBc/Hz" ?result "pnoise_pm" ?noiseConvention "SSB")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fosc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harmonic(xval(getData("I0.net1" ?result "</a:t>
                      </a:r>
                      <a:r>
                        <a:rPr lang="en-US" sz="1800" u="none" strike="noStrike" cap="none"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pss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_fd")) '1)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df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Offset Frequency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rms(/IPRB0/PLUS)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Pdc/1mW</a:t>
                      </a:r>
                      <a:endParaRPr sz="1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Idc*VDD/1mW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1" name="Google Shape;211;p10"/>
          <p:cNvSpPr txBox="1"/>
          <p:nvPr/>
        </p:nvSpPr>
        <p:spPr>
          <a:xfrm>
            <a:off x="8224825" y="1985175"/>
            <a:ext cx="36750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Figure of Merit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높을수록 좋음</a:t>
            </a:r>
            <a:endParaRPr sz="180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2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endParaRPr sz="180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Periodic Static State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회로가 일정하게 </a:t>
            </a:r>
            <a:endParaRPr sz="180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발진하는 안정된 한 주기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4"/>
          <p:cNvCxnSpPr>
            <a:endCxn id="217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19" name="Google Shape;219;p24" descr="텍스트, 스크린샷, 번호, 폰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0" y="668487"/>
            <a:ext cx="10522001" cy="55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11"/>
          <p:cNvCxnSpPr>
            <a:endCxn id="225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27" name="Google Shape;227;p11" descr="라인, 그래프, 도표, 텍스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2413" y="1011227"/>
            <a:ext cx="9127174" cy="538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Wp/Wn, Width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4" name="Google Shape;234;p12"/>
          <p:cNvCxnSpPr>
            <a:endCxn id="233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35" name="Google Shape;235;p12" descr="텍스트, 스크린샷, 그래프, 라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6792"/>
          <a:stretch/>
        </p:blipFill>
        <p:spPr>
          <a:xfrm>
            <a:off x="841728" y="849337"/>
            <a:ext cx="6319425" cy="55401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 txBox="1"/>
          <p:nvPr/>
        </p:nvSpPr>
        <p:spPr>
          <a:xfrm>
            <a:off x="7370619" y="1166862"/>
            <a:ext cx="4529167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6에 따른 기생 cap 때문에 Wp/Wn 비율이 맞지 않아도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발진주파수가 높아짐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finger에서 2배와 width에서의 2배는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기생 cap과 width로 부터 생기는 cap 등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여러가지의 이유로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발진주파수의 값이 달라짐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2298938" y="6389500"/>
            <a:ext cx="340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Wp/Wn, Width In VDD Sweep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5933800" y="1424813"/>
            <a:ext cx="964033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W=1u </a:t>
            </a:r>
            <a:endParaRPr sz="1800" b="1" i="0" u="none" strike="noStrike" cap="none">
              <a:solidFill>
                <a:srgbClr val="E2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W=2u</a:t>
            </a:r>
            <a:endParaRPr sz="1800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W=3u</a:t>
            </a:r>
            <a:endParaRPr sz="1800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W=4u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W=5u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4840079" y="1476318"/>
            <a:ext cx="152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L=60n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Noise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13"/>
          <p:cNvCxnSpPr>
            <a:endCxn id="245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47" name="Google Shape;247;p13" descr="텍스트, 그래프, 라인, 스크린샷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17810"/>
          <a:stretch/>
        </p:blipFill>
        <p:spPr>
          <a:xfrm>
            <a:off x="538049" y="813112"/>
            <a:ext cx="11106401" cy="522228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1670988" y="4269600"/>
            <a:ext cx="133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Corner=ff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Corner=tt</a:t>
            </a:r>
            <a:endParaRPr sz="1800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Corner=ss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390875" y="6188700"/>
            <a:ext cx="30762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Finger=1.5일 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14"/>
          <p:cNvCxnSpPr>
            <a:endCxn id="255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 l="9618" t="38800" r="44840" b="16941"/>
          <a:stretch/>
        </p:blipFill>
        <p:spPr>
          <a:xfrm>
            <a:off x="1860113" y="739200"/>
            <a:ext cx="8462275" cy="513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4"/>
          <p:cNvSpPr txBox="1"/>
          <p:nvPr/>
        </p:nvSpPr>
        <p:spPr>
          <a:xfrm>
            <a:off x="5120550" y="6153150"/>
            <a:ext cx="30762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Finger=1.5일 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5"/>
          <p:cNvCxnSpPr>
            <a:endCxn id="264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66" name="Google Shape;266;p25"/>
          <p:cNvSpPr txBox="1"/>
          <p:nvPr/>
        </p:nvSpPr>
        <p:spPr>
          <a:xfrm>
            <a:off x="5120550" y="6153150"/>
            <a:ext cx="30762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Finger=1.5일 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7" name="Google Shape;267;p25" descr="라인, 그래프, 텍스트, 도표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1645" y="649108"/>
            <a:ext cx="9088710" cy="5409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180nm Schematic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15"/>
          <p:cNvCxnSpPr>
            <a:endCxn id="273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75" name="Google Shape;275;p15" descr="텍스트, 스크린샷, 도표, 폰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t="1828"/>
          <a:stretch/>
        </p:blipFill>
        <p:spPr>
          <a:xfrm>
            <a:off x="491412" y="1494255"/>
            <a:ext cx="4840826" cy="371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5" descr="텍스트, 스크린샷, 라인, 도표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 t="2167" r="1204"/>
          <a:stretch/>
        </p:blipFill>
        <p:spPr>
          <a:xfrm>
            <a:off x="5000430" y="757181"/>
            <a:ext cx="6700158" cy="519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 txBox="1"/>
          <p:nvPr/>
        </p:nvSpPr>
        <p:spPr>
          <a:xfrm>
            <a:off x="2025779" y="5731487"/>
            <a:ext cx="1218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schematic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7893941" y="5731487"/>
            <a:ext cx="933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symbol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6" descr="스크린샷, 라인, 그래프, 도표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17107"/>
          <a:stretch/>
        </p:blipFill>
        <p:spPr>
          <a:xfrm>
            <a:off x="494202" y="808350"/>
            <a:ext cx="6721800" cy="52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6"/>
          <p:cNvCxnSpPr>
            <a:endCxn id="285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7" name="Google Shape;287;p16"/>
          <p:cNvSpPr txBox="1"/>
          <p:nvPr/>
        </p:nvSpPr>
        <p:spPr>
          <a:xfrm>
            <a:off x="2182511" y="6183150"/>
            <a:ext cx="309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 In VIN Sweep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3749404" y="1324481"/>
            <a:ext cx="1524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Wp/Wn=2.5</a:t>
            </a:r>
            <a:endParaRPr sz="1800" b="1" i="0" u="none" strike="noStrike" cap="none">
              <a:solidFill>
                <a:srgbClr val="E2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Wp/Wn=2.6</a:t>
            </a: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Wp/Wn=2.7</a:t>
            </a:r>
            <a:endParaRPr sz="1800" b="1" i="0" u="none" strike="noStrike" cap="none">
              <a:solidFill>
                <a:srgbClr val="00E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Wp/Wn=2.8</a:t>
            </a:r>
            <a:endParaRPr sz="1800" b="1" i="0" u="none" strike="noStrike" cap="none">
              <a:solidFill>
                <a:srgbClr val="00DDD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Wp/Wn=2.9</a:t>
            </a:r>
            <a:endParaRPr sz="1800" b="1" i="0" u="none" strike="noStrike" cap="none">
              <a:solidFill>
                <a:srgbClr val="0000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Wp/Wn=3</a:t>
            </a:r>
            <a:endParaRPr sz="1800" b="1" i="0" u="none" strike="noStrike" cap="none">
              <a:solidFill>
                <a:srgbClr val="E000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5273404" y="1324481"/>
            <a:ext cx="152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W=4u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L=180n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V=2V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7728050" y="3079175"/>
            <a:ext cx="405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대략 Wp/Wn=2.7~2.9이 최적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schematic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7"/>
          <p:cNvCxnSpPr>
            <a:endCxn id="296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98" name="Google Shape;298;p17" descr="라인, 도표, 스크린샷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25" y="3786625"/>
            <a:ext cx="12069548" cy="25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7" descr="텍스트, 도표, 라인, 폰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4375" y="649100"/>
            <a:ext cx="4672429" cy="295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7" descr="텍스트, 스크린샷, 도표, 폰트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35975" y="639725"/>
            <a:ext cx="3744548" cy="28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7"/>
          <p:cNvSpPr txBox="1"/>
          <p:nvPr/>
        </p:nvSpPr>
        <p:spPr>
          <a:xfrm>
            <a:off x="2819825" y="3485875"/>
            <a:ext cx="178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testbench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8690700" y="3485875"/>
            <a:ext cx="123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testbench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5819400" y="6302400"/>
            <a:ext cx="151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schematic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18"/>
          <p:cNvCxnSpPr>
            <a:endCxn id="309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11" name="Google Shape;311;p18" descr="텍스트, 스크린샷, 라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5980"/>
          <a:stretch/>
        </p:blipFill>
        <p:spPr>
          <a:xfrm>
            <a:off x="777350" y="691125"/>
            <a:ext cx="6368799" cy="54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8"/>
          <p:cNvSpPr txBox="1"/>
          <p:nvPr/>
        </p:nvSpPr>
        <p:spPr>
          <a:xfrm>
            <a:off x="3702675" y="6220268"/>
            <a:ext cx="265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 in W Sweep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7946239" y="2757600"/>
            <a:ext cx="37623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소자의 크기가 작을수록 </a:t>
            </a:r>
            <a:endParaRPr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발진주파수 상승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5801129" y="4787381"/>
            <a:ext cx="15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L=180n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V=2V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4277129" y="4787381"/>
            <a:ext cx="15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2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Wp/Wn=2.7</a:t>
            </a:r>
            <a:endParaRPr sz="1800" b="1" i="0" u="none" strike="noStrike" cap="none">
              <a:solidFill>
                <a:srgbClr val="E2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Wp/Wn=2.8</a:t>
            </a: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Wp/Wn=2.9</a:t>
            </a:r>
            <a:endParaRPr sz="1800" b="1" i="0" u="none" strike="noStrike" cap="none">
              <a:solidFill>
                <a:srgbClr val="E000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/>
        </p:nvSpPr>
        <p:spPr>
          <a:xfrm>
            <a:off x="292214" y="279776"/>
            <a:ext cx="1160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19"/>
          <p:cNvCxnSpPr>
            <a:endCxn id="321" idx="3"/>
          </p:cNvCxnSpPr>
          <p:nvPr/>
        </p:nvCxnSpPr>
        <p:spPr>
          <a:xfrm rot="10800000" flipH="1">
            <a:off x="1958114" y="464426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23" name="Google Shape;323;p19" descr="텍스트, 스크린샷, 그래프, 라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25816"/>
          <a:stretch/>
        </p:blipFill>
        <p:spPr>
          <a:xfrm>
            <a:off x="815975" y="755388"/>
            <a:ext cx="6164949" cy="53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/>
          <p:nvPr/>
        </p:nvSpPr>
        <p:spPr>
          <a:xfrm>
            <a:off x="2836100" y="62089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 in W Sweep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7998780" y="2097288"/>
            <a:ext cx="3227023" cy="273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Finger는 짝수일 때가 좋음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2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D, S 영역을 공유해서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불필요한 기생 cap을 줄임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3887551" y="4471563"/>
            <a:ext cx="117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Finger=2</a:t>
            </a:r>
            <a:endParaRPr sz="1800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Finger=3</a:t>
            </a:r>
            <a:endParaRPr sz="1800" b="1" i="0" u="none" strike="noStrike" cap="none">
              <a:solidFill>
                <a:srgbClr val="00E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DDDD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Finger=4</a:t>
            </a:r>
            <a:endParaRPr sz="1800" b="1" i="0" u="none" strike="noStrike" cap="none">
              <a:solidFill>
                <a:srgbClr val="00DDD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E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Finger=5</a:t>
            </a:r>
            <a:endParaRPr sz="1800" b="1" i="0" u="none" strike="noStrike" cap="none">
              <a:solidFill>
                <a:srgbClr val="0000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5060854" y="4748769"/>
            <a:ext cx="15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Wp/Wn=2.7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L=180n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V=2V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Noise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0"/>
          <p:cNvCxnSpPr>
            <a:endCxn id="333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35" name="Google Shape;335;p20" descr="텍스트, 스크린샷, 라인, 그래프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 l="17775"/>
          <a:stretch/>
        </p:blipFill>
        <p:spPr>
          <a:xfrm>
            <a:off x="630250" y="857725"/>
            <a:ext cx="10922001" cy="513305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0"/>
          <p:cNvSpPr txBox="1"/>
          <p:nvPr/>
        </p:nvSpPr>
        <p:spPr>
          <a:xfrm>
            <a:off x="1958074" y="4354136"/>
            <a:ext cx="1456800" cy="10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600" tIns="49800" rIns="99600" bIns="49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rPr lang="en-US" sz="1961" b="1" i="0" u="none" strike="noStrike" cap="none">
                <a:solidFill>
                  <a:srgbClr val="E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Corner=ff</a:t>
            </a:r>
            <a:endParaRPr sz="152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rPr lang="en-US" sz="1961" b="1" i="0" u="none" strike="noStrike" cap="none">
                <a:solidFill>
                  <a:srgbClr val="CCCE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Corner=tt</a:t>
            </a:r>
            <a:endParaRPr sz="1961" b="1" i="0" u="none" strike="noStrike" cap="none">
              <a:solidFill>
                <a:srgbClr val="CCCE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1"/>
              <a:buFont typeface="Arial"/>
              <a:buNone/>
            </a:pPr>
            <a:r>
              <a:rPr lang="en-US" sz="1961" b="1" i="0" u="none" strike="noStrike" cap="none">
                <a:solidFill>
                  <a:srgbClr val="00E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Corner=ss</a:t>
            </a:r>
            <a:endParaRPr sz="152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3" name="Google Shape;343;p21"/>
          <p:cNvCxnSpPr>
            <a:endCxn id="342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44" name="Google Shape;344;p21" descr="텍스트, 스크린샷, 번호, 폰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847" y="812997"/>
            <a:ext cx="10652305" cy="5580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FoM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1" name="Google Shape;351;p22"/>
          <p:cNvCxnSpPr>
            <a:endCxn id="350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52" name="Google Shape;352;p22" descr="라인, 그래프, 텍스트, 도표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4866" y="756684"/>
            <a:ext cx="8942268" cy="56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/>
        </p:nvSpPr>
        <p:spPr>
          <a:xfrm>
            <a:off x="292214" y="279776"/>
            <a:ext cx="116075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Summary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9" name="Google Shape;359;p26"/>
          <p:cNvCxnSpPr>
            <a:endCxn id="358" idx="3"/>
          </p:cNvCxnSpPr>
          <p:nvPr/>
        </p:nvCxnSpPr>
        <p:spPr>
          <a:xfrm rot="10800000" flipH="1">
            <a:off x="1958086" y="464442"/>
            <a:ext cx="9941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60" name="Google Shape;360;p26" descr="텍스트, 스크린샷, 폰트, 번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3911" y="833773"/>
            <a:ext cx="2635328" cy="551023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32369" y="1230225"/>
            <a:ext cx="7080785" cy="2047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65nm와 180nm 사이의 FoM의 차이는 크게 느끼지 못하였다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1" indent="-28575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⇒"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만일, FoM이 비슷한 스펙이라고 하면 발진주파수가 높고 </a:t>
            </a: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면적이 훨씬 작은 tsmc65nm를 쓰는 게 더 유용하다는 생각이 든다</a:t>
            </a:r>
            <a:endParaRPr/>
          </a:p>
        </p:txBody>
      </p:sp>
      <p:pic>
        <p:nvPicPr>
          <p:cNvPr id="362" name="Google Shape;362;p26" descr="텍스트, 폰트, 스크린샷, 라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8337" y="3977193"/>
            <a:ext cx="4268851" cy="18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9148244" y="6424335"/>
            <a:ext cx="21178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rPr>
              <a:t>★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위에서부터 ss, tt, ff 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가을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와이드스크린</PresentationFormat>
  <Paragraphs>215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Noto Sans Symbols</vt:lpstr>
      <vt:lpstr>Malgun Gothic</vt:lpstr>
      <vt:lpstr>Batang</vt:lpstr>
      <vt:lpstr>Arial</vt:lpstr>
      <vt:lpstr>Georgia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황인철</dc:creator>
  <cp:lastModifiedBy>CMJ</cp:lastModifiedBy>
  <cp:revision>1</cp:revision>
  <dcterms:created xsi:type="dcterms:W3CDTF">2022-05-26T00:02:50Z</dcterms:created>
  <dcterms:modified xsi:type="dcterms:W3CDTF">2026-02-02T01:04:24Z</dcterms:modified>
</cp:coreProperties>
</file>